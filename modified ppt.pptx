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18"/>
  </p:notesMasterIdLst>
  <p:sldIdLst>
    <p:sldId id="278" r:id="rId4"/>
    <p:sldId id="259" r:id="rId5"/>
    <p:sldId id="264" r:id="rId6"/>
    <p:sldId id="290" r:id="rId7"/>
    <p:sldId id="295" r:id="rId8"/>
    <p:sldId id="291" r:id="rId9"/>
    <p:sldId id="292" r:id="rId10"/>
    <p:sldId id="296" r:id="rId11"/>
    <p:sldId id="272" r:id="rId12"/>
    <p:sldId id="273" r:id="rId13"/>
    <p:sldId id="276" r:id="rId14"/>
    <p:sldId id="293" r:id="rId15"/>
    <p:sldId id="294" r:id="rId16"/>
    <p:sldId id="274" r:id="rId17"/>
  </p:sldIdLst>
  <p:sldSz cx="12192000" cy="6858000"/>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205"/>
    <a:srgbClr val="FF97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4CB94B-F41B-411D-BEAD-D346A7E07870}" v="6" dt="2024-07-19T15:58:29.630"/>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77"/>
      </p:cViewPr>
      <p:guideLst>
        <p:guide orient="horz" pos="2160"/>
        <p:guide pos="384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may burkute" userId="9267e2a87039da2c" providerId="LiveId" clId="{574CB94B-F41B-411D-BEAD-D346A7E07870}"/>
    <pc:docChg chg="undo custSel addSld delSld modSld">
      <pc:chgData name="tanmay burkute" userId="9267e2a87039da2c" providerId="LiveId" clId="{574CB94B-F41B-411D-BEAD-D346A7E07870}" dt="2024-07-19T16:12:57.941" v="108" actId="20577"/>
      <pc:docMkLst>
        <pc:docMk/>
      </pc:docMkLst>
      <pc:sldChg chg="modSp mod">
        <pc:chgData name="tanmay burkute" userId="9267e2a87039da2c" providerId="LiveId" clId="{574CB94B-F41B-411D-BEAD-D346A7E07870}" dt="2024-07-17T15:46:04.868" v="3" actId="20577"/>
        <pc:sldMkLst>
          <pc:docMk/>
          <pc:sldMk cId="0" sldId="264"/>
        </pc:sldMkLst>
        <pc:spChg chg="mod">
          <ac:chgData name="tanmay burkute" userId="9267e2a87039da2c" providerId="LiveId" clId="{574CB94B-F41B-411D-BEAD-D346A7E07870}" dt="2024-07-17T15:46:04.868" v="3" actId="20577"/>
          <ac:spMkLst>
            <pc:docMk/>
            <pc:sldMk cId="0" sldId="264"/>
            <ac:spMk id="4" creationId="{6D403BD7-B371-8E83-F85A-65D8B4E45F15}"/>
          </ac:spMkLst>
        </pc:spChg>
      </pc:sldChg>
      <pc:sldChg chg="addSp modSp new del mod modClrScheme chgLayout">
        <pc:chgData name="tanmay burkute" userId="9267e2a87039da2c" providerId="LiveId" clId="{574CB94B-F41B-411D-BEAD-D346A7E07870}" dt="2024-07-19T15:39:55.238" v="10" actId="47"/>
        <pc:sldMkLst>
          <pc:docMk/>
          <pc:sldMk cId="197682942" sldId="296"/>
        </pc:sldMkLst>
        <pc:spChg chg="mod ord">
          <ac:chgData name="tanmay burkute" userId="9267e2a87039da2c" providerId="LiveId" clId="{574CB94B-F41B-411D-BEAD-D346A7E07870}" dt="2024-07-19T15:39:22.335" v="9" actId="700"/>
          <ac:spMkLst>
            <pc:docMk/>
            <pc:sldMk cId="197682942" sldId="296"/>
            <ac:spMk id="2" creationId="{AFB9B03F-6423-6001-6A27-8EC26277FA13}"/>
          </ac:spMkLst>
        </pc:spChg>
        <pc:spChg chg="add mod ord">
          <ac:chgData name="tanmay burkute" userId="9267e2a87039da2c" providerId="LiveId" clId="{574CB94B-F41B-411D-BEAD-D346A7E07870}" dt="2024-07-19T15:39:22.335" v="9" actId="700"/>
          <ac:spMkLst>
            <pc:docMk/>
            <pc:sldMk cId="197682942" sldId="296"/>
            <ac:spMk id="3" creationId="{CC7DDF9C-3EA7-1DB6-8F3D-6D97020F775F}"/>
          </ac:spMkLst>
        </pc:spChg>
        <pc:spChg chg="add mod ord">
          <ac:chgData name="tanmay burkute" userId="9267e2a87039da2c" providerId="LiveId" clId="{574CB94B-F41B-411D-BEAD-D346A7E07870}" dt="2024-07-19T15:39:22.335" v="9" actId="700"/>
          <ac:spMkLst>
            <pc:docMk/>
            <pc:sldMk cId="197682942" sldId="296"/>
            <ac:spMk id="4" creationId="{FBF9CEAA-D372-B6A7-04EE-6CFC80446790}"/>
          </ac:spMkLst>
        </pc:spChg>
      </pc:sldChg>
      <pc:sldChg chg="new del">
        <pc:chgData name="tanmay burkute" userId="9267e2a87039da2c" providerId="LiveId" clId="{574CB94B-F41B-411D-BEAD-D346A7E07870}" dt="2024-07-19T15:38:31.205" v="5" actId="680"/>
        <pc:sldMkLst>
          <pc:docMk/>
          <pc:sldMk cId="987109895" sldId="296"/>
        </pc:sldMkLst>
      </pc:sldChg>
      <pc:sldChg chg="addSp delSp modSp new mod">
        <pc:chgData name="tanmay burkute" userId="9267e2a87039da2c" providerId="LiveId" clId="{574CB94B-F41B-411D-BEAD-D346A7E07870}" dt="2024-07-19T16:12:57.941" v="108" actId="20577"/>
        <pc:sldMkLst>
          <pc:docMk/>
          <pc:sldMk cId="1580832063" sldId="296"/>
        </pc:sldMkLst>
        <pc:spChg chg="mod">
          <ac:chgData name="tanmay burkute" userId="9267e2a87039da2c" providerId="LiveId" clId="{574CB94B-F41B-411D-BEAD-D346A7E07870}" dt="2024-07-19T15:50:07.943" v="35" actId="1076"/>
          <ac:spMkLst>
            <pc:docMk/>
            <pc:sldMk cId="1580832063" sldId="296"/>
            <ac:spMk id="2" creationId="{36930462-2423-B6CA-8572-B255BEC71887}"/>
          </ac:spMkLst>
        </pc:spChg>
        <pc:spChg chg="add del mod">
          <ac:chgData name="tanmay burkute" userId="9267e2a87039da2c" providerId="LiveId" clId="{574CB94B-F41B-411D-BEAD-D346A7E07870}" dt="2024-07-19T15:45:09.733" v="16"/>
          <ac:spMkLst>
            <pc:docMk/>
            <pc:sldMk cId="1580832063" sldId="296"/>
            <ac:spMk id="3" creationId="{7F0B6F6D-6318-3DF7-1A06-51AF334F4915}"/>
          </ac:spMkLst>
        </pc:spChg>
        <pc:spChg chg="add mod">
          <ac:chgData name="tanmay burkute" userId="9267e2a87039da2c" providerId="LiveId" clId="{574CB94B-F41B-411D-BEAD-D346A7E07870}" dt="2024-07-19T15:49:29.152" v="32" actId="1076"/>
          <ac:spMkLst>
            <pc:docMk/>
            <pc:sldMk cId="1580832063" sldId="296"/>
            <ac:spMk id="4" creationId="{5907EAE3-1C91-387B-94C4-F5F214F7AE76}"/>
          </ac:spMkLst>
        </pc:spChg>
        <pc:spChg chg="add mod">
          <ac:chgData name="tanmay burkute" userId="9267e2a87039da2c" providerId="LiveId" clId="{574CB94B-F41B-411D-BEAD-D346A7E07870}" dt="2024-07-19T16:12:57.941" v="108" actId="20577"/>
          <ac:spMkLst>
            <pc:docMk/>
            <pc:sldMk cId="1580832063" sldId="296"/>
            <ac:spMk id="6" creationId="{7736B9AD-44BE-F3C4-9D6D-FBFC207F3D67}"/>
          </ac:spMkLst>
        </pc:spChg>
        <pc:picChg chg="add mod">
          <ac:chgData name="tanmay burkute" userId="9267e2a87039da2c" providerId="LiveId" clId="{574CB94B-F41B-411D-BEAD-D346A7E07870}" dt="2024-07-19T15:49:40.710" v="33"/>
          <ac:picMkLst>
            <pc:docMk/>
            <pc:sldMk cId="1580832063" sldId="296"/>
            <ac:picMk id="5" creationId="{C13CC182-8968-6A20-50F8-8C909DF8F2E2}"/>
          </ac:picMkLst>
        </pc:picChg>
      </pc:sldChg>
      <pc:sldChg chg="add del">
        <pc:chgData name="tanmay burkute" userId="9267e2a87039da2c" providerId="LiveId" clId="{574CB94B-F41B-411D-BEAD-D346A7E07870}" dt="2024-07-19T15:38:53.654" v="8"/>
        <pc:sldMkLst>
          <pc:docMk/>
          <pc:sldMk cId="1856828796"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A83A04-0D60-423F-815B-296A731B7C59}" type="datetimeFigureOut">
              <a:rPr lang="en-IN" smtClean="0"/>
              <a:t>19-07-2024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996ED-98DB-4D47-B734-0656DE4C0874}" type="slidenum">
              <a:rPr lang="en-IN" smtClean="0"/>
              <a:t>‹#›</a:t>
            </a:fld>
            <a:endParaRPr lang="en-IN"/>
          </a:p>
        </p:txBody>
      </p:sp>
    </p:spTree>
    <p:extLst>
      <p:ext uri="{BB962C8B-B14F-4D97-AF65-F5344CB8AC3E}">
        <p14:creationId xmlns:p14="http://schemas.microsoft.com/office/powerpoint/2010/main" val="1544562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C0996ED-98DB-4D47-B734-0656DE4C0874}" type="slidenum">
              <a:rPr lang="en-IN" smtClean="0"/>
              <a:t>1</a:t>
            </a:fld>
            <a:endParaRPr lang="en-IN"/>
          </a:p>
        </p:txBody>
      </p:sp>
    </p:spTree>
    <p:extLst>
      <p:ext uri="{BB962C8B-B14F-4D97-AF65-F5344CB8AC3E}">
        <p14:creationId xmlns:p14="http://schemas.microsoft.com/office/powerpoint/2010/main" val="1136634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C0996ED-98DB-4D47-B734-0656DE4C0874}" type="slidenum">
              <a:rPr lang="en-IN" smtClean="0"/>
              <a:t>2</a:t>
            </a:fld>
            <a:endParaRPr lang="en-IN"/>
          </a:p>
        </p:txBody>
      </p:sp>
    </p:spTree>
    <p:extLst>
      <p:ext uri="{BB962C8B-B14F-4D97-AF65-F5344CB8AC3E}">
        <p14:creationId xmlns:p14="http://schemas.microsoft.com/office/powerpoint/2010/main" val="1010418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C0996ED-98DB-4D47-B734-0656DE4C0874}" type="slidenum">
              <a:rPr lang="en-IN" smtClean="0"/>
              <a:t>3</a:t>
            </a:fld>
            <a:endParaRPr lang="en-IN"/>
          </a:p>
        </p:txBody>
      </p:sp>
    </p:spTree>
    <p:extLst>
      <p:ext uri="{BB962C8B-B14F-4D97-AF65-F5344CB8AC3E}">
        <p14:creationId xmlns:p14="http://schemas.microsoft.com/office/powerpoint/2010/main" val="1831357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01FAD43-AF73-4FFA-929E-78A95853E28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32E7BF0-C7A3-4C43-BBD7-F0EA414DB817}"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DA6EB3F-274F-4E16-915D-7318D1CB019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2212B7A-8A19-4A4F-A265-EDDD1DAC1BD7}"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3FCB7B4-0D8D-4419-B137-B6CAC0E4B7A8}"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942E75C-E8DC-4CAC-8828-51BE214F7F3E}"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3059415-5B39-40BE-9D0B-D0101E54DB2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580315D-248E-4334-9326-B0C074E59EFE}"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ACADF6F-D9FA-4BA1-B903-B501F1AF2E47}"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373F05E-BF39-4D09-8F9B-CDB33614A5FD}"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3BE40A6-DB86-496C-8D1C-F6BD6823CAB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DB94D8F-AB4C-4ABD-9DDD-6F4E98BC03B6}"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58D5BD4-1B73-49FE-9FEE-99C64E7C3C3C}"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3776EB0-A54C-4CBB-B62B-E6AA6BF35806}"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CFB6C6C-6C29-4913-B575-FCB6B961ADFF}"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7602BAE-DFB9-419C-9CD8-7EA326ACEB9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D42E7ED-3A59-4475-B7C4-6BD13EC443DC}"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336B47E-84C3-49FC-9DE5-9DB199657BE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CD30E1D7-C765-4363-B14A-5AF07DEFB5E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F6C4C7E-E4FE-4DD5-AD8E-D2AAADC9B9F4}"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68514F3-FCC9-4C2A-A2A0-47AF9FD350E8}"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2517EE6-2D3F-4211-B169-3C826630EC98}"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6E447A-78C9-4EBA-A554-4FB340CD8AF5}"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E6DA3FBE-E15C-4805-A2B2-0DBCA362F64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4B02C8-FBAA-4811-9E3C-6B36402D01A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05A2B29-3A5F-4A8A-BEC2-ECFC640BC47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112FA0A-E6F0-4B68-BBA7-3200C0FB4890}"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ED4AF5F-B60E-43CB-9653-BF2A37C3ADE4}"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8494341-F070-4D96-8A41-BAD1EE8BD84C}"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D0BEA16-17CA-4E3D-B4F0-6AE982EC206B}"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FDEC676-3BC7-4793-AF88-E2DCBD876E42}"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5BB93D4-3C96-450A-95ED-D38D7338690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4CEC24D-E0C9-4BE0-BA2C-DFAB42FF5C89}"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D1DB572F-0007-4D15-BFA6-BDA8CFCE2C7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2051"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2BB0F7-6251-4721-AE22-9B5F9E606E07}"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252C6FA-E956-4E98-9EFF-485450BD618A}" type="datetime1">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t>19-07-2024</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Nagpur | Pune | Jalgaon | Amravati | Pandhurna | Bhandara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8" name="Subtitle 2"/>
          <p:cNvSpPr txBox="1"/>
          <p:nvPr/>
        </p:nvSpPr>
        <p:spPr>
          <a:xfrm>
            <a:off x="1080293" y="3006786"/>
            <a:ext cx="10031413" cy="3326191"/>
          </a:xfrm>
          <a:prstGeom prst="rect">
            <a:avLst/>
          </a:prstGeom>
        </p:spPr>
        <p:txBody>
          <a:bodyPr>
            <a:normAutofit fontScale="40000" lnSpcReduction="20000"/>
          </a:bodyPr>
          <a:lstStyle/>
          <a:p>
            <a:pPr marL="274320" marR="0" indent="-274320" defTabSz="914400" fontAlgn="auto">
              <a:spcBef>
                <a:spcPct val="20000"/>
              </a:spcBef>
              <a:spcAft>
                <a:spcPts val="0"/>
              </a:spcAft>
              <a:buClr>
                <a:schemeClr val="accent3"/>
              </a:buClr>
              <a:buSzPct val="95000"/>
              <a:buFontTx/>
              <a:buNone/>
              <a:defRPr/>
            </a:pPr>
            <a:endParaRPr kumimoji="0" lang="en-US" sz="26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Guide:</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Sonia Bajaj</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p>
          <a:p>
            <a:pPr marL="274320" marR="0" indent="-274320" defTabSz="914400" fontAlgn="auto">
              <a:spcBef>
                <a:spcPct val="20000"/>
              </a:spcBef>
              <a:spcAft>
                <a:spcPts val="0"/>
              </a:spcAft>
              <a:buClr>
                <a:schemeClr val="accent3"/>
              </a:buClr>
              <a:buSzPct val="95000"/>
              <a:buFontTx/>
              <a:buNone/>
              <a:defRPr/>
            </a:pPr>
            <a:endParaRPr kumimoji="0" lang="en-US" sz="4500" b="1"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endParaRPr kumimoji="0" lang="en-US" sz="4500" b="1" i="1"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fontAlgn="auto">
              <a:spcBef>
                <a:spcPct val="20000"/>
              </a:spcBef>
              <a:spcAft>
                <a:spcPts val="0"/>
              </a:spcAft>
              <a:buClr>
                <a:schemeClr val="accent3"/>
              </a:buClr>
              <a:buSzPct val="95000"/>
              <a:buFontTx/>
              <a:buNone/>
              <a:defRPr/>
            </a:pP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Name of </a:t>
            </a:r>
            <a:r>
              <a:rPr kumimoji="0" lang="en-US" sz="4500" b="1" u="sng" kern="1200" cap="none" spc="0" normalizeH="0" baseline="0" noProof="0" dirty="0" err="1">
                <a:latin typeface="Times New Roman" panose="02020603050405020304" pitchFamily="18" charset="0"/>
                <a:ea typeface="+mn-ea"/>
                <a:cs typeface="Times New Roman" panose="02020603050405020304" pitchFamily="18" charset="0"/>
              </a:rPr>
              <a:t>Projectees</a:t>
            </a: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fontAlgn="auto">
              <a:spcBef>
                <a:spcPct val="20000"/>
              </a:spcBef>
              <a:spcAft>
                <a:spcPts val="0"/>
              </a:spcAft>
              <a:buClr>
                <a:schemeClr val="accent3"/>
              </a:buClr>
              <a:buSzPct val="95000"/>
              <a:buFontTx/>
              <a:buNone/>
              <a:defRPr/>
            </a:pP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i="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Shravani </a:t>
            </a:r>
            <a:r>
              <a:rPr lang="en-US" sz="4500" b="1" dirty="0" err="1">
                <a:latin typeface="Times New Roman" panose="02020603050405020304" pitchFamily="18" charset="0"/>
                <a:cs typeface="Times New Roman" panose="02020603050405020304" pitchFamily="18" charset="0"/>
              </a:rPr>
              <a:t>Dahule</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Shivani </a:t>
            </a:r>
            <a:r>
              <a:rPr kumimoji="0" lang="en-US" sz="4500" b="1" kern="1200" cap="none" spc="0" normalizeH="0" baseline="0" noProof="0" dirty="0" err="1">
                <a:latin typeface="Times New Roman" panose="02020603050405020304" pitchFamily="18" charset="0"/>
                <a:ea typeface="+mn-ea"/>
                <a:cs typeface="Times New Roman" panose="02020603050405020304" pitchFamily="18" charset="0"/>
              </a:rPr>
              <a:t>Dharamkar</a:t>
            </a:r>
            <a:endParaRPr kumimoji="0" lang="en-US" sz="4500" b="1"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Mahesh </a:t>
            </a:r>
            <a:r>
              <a:rPr lang="en-US" sz="4500" b="1" dirty="0" err="1">
                <a:latin typeface="Times New Roman" panose="02020603050405020304" pitchFamily="18" charset="0"/>
                <a:cs typeface="Times New Roman" panose="02020603050405020304" pitchFamily="18" charset="0"/>
              </a:rPr>
              <a:t>Sonarkar</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kern="1200" cap="none" spc="0" normalizeH="0" baseline="0" noProof="0" dirty="0" err="1">
                <a:latin typeface="Times New Roman" panose="02020603050405020304" pitchFamily="18" charset="0"/>
                <a:ea typeface="+mn-ea"/>
                <a:cs typeface="Times New Roman" panose="02020603050405020304" pitchFamily="18" charset="0"/>
              </a:rPr>
              <a:t>Shreyash</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kern="1200" cap="none" spc="0" normalizeH="0" baseline="0" noProof="0" dirty="0" err="1">
                <a:latin typeface="Times New Roman" panose="02020603050405020304" pitchFamily="18" charset="0"/>
                <a:ea typeface="+mn-ea"/>
                <a:cs typeface="Times New Roman" panose="02020603050405020304" pitchFamily="18" charset="0"/>
              </a:rPr>
              <a:t>Borkute</a:t>
            </a:r>
            <a:endParaRPr kumimoji="0" lang="en-US" sz="4500" b="1"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endParaRPr kumimoji="0" lang="en-US" sz="2600" b="1" i="1"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Session 2024-25</a:t>
            </a:r>
            <a:endParaRPr kumimoji="0" lang="en-US" sz="2600"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3077" name="Rectangle 5"/>
          <p:cNvSpPr txBox="1"/>
          <p:nvPr/>
        </p:nvSpPr>
        <p:spPr>
          <a:xfrm>
            <a:off x="1943100" y="2738942"/>
            <a:ext cx="8229600" cy="425450"/>
          </a:xfrm>
          <a:prstGeom prst="rect">
            <a:avLst/>
          </a:prstGeom>
          <a:noFill/>
          <a:ln w="9525">
            <a:noFill/>
          </a:ln>
        </p:spPr>
        <p:txBody>
          <a:bodyPr anchor="t" anchorCtr="0">
            <a:spAutoFit/>
          </a:bodyPr>
          <a:lstStyle/>
          <a:p>
            <a:pPr algn="ctr">
              <a:lnSpc>
                <a:spcPct val="90000"/>
              </a:lnSpc>
              <a:spcBef>
                <a:spcPts val="1000"/>
              </a:spcBef>
            </a:pPr>
            <a:r>
              <a:rPr lang="en-US" altLang="en-US" sz="2400" b="1" i="1" dirty="0">
                <a:solidFill>
                  <a:srgbClr val="FF0000"/>
                </a:solidFill>
                <a:latin typeface="Arial Black" panose="020B0A04020102020204" pitchFamily="34" charset="0"/>
                <a:ea typeface="Aharoni" pitchFamily="2" charset="-79"/>
              </a:rPr>
              <a:t>Style Spectrum </a:t>
            </a:r>
            <a:endParaRPr lang="en-US" altLang="en-US" sz="2400" b="1" i="1" u="sng" dirty="0">
              <a:solidFill>
                <a:srgbClr val="FF0000"/>
              </a:solidFill>
              <a:latin typeface="Castellar" panose="020A0402060406010301" pitchFamily="18" charset="0"/>
              <a:ea typeface="Arial" panose="020B0604020202020204" pitchFamily="34" charset="0"/>
            </a:endParaRPr>
          </a:p>
        </p:txBody>
      </p:sp>
      <p:sp>
        <p:nvSpPr>
          <p:cNvPr id="3078" name="Rectangle 5"/>
          <p:cNvSpPr txBox="1"/>
          <p:nvPr/>
        </p:nvSpPr>
        <p:spPr>
          <a:xfrm>
            <a:off x="1981200" y="1676400"/>
            <a:ext cx="8229600" cy="425450"/>
          </a:xfrm>
          <a:prstGeom prst="rect">
            <a:avLst/>
          </a:prstGeom>
          <a:noFill/>
          <a:ln w="9525">
            <a:noFill/>
          </a:ln>
        </p:spPr>
        <p:txBody>
          <a:bodyPr anchor="t" anchorCtr="0">
            <a:spAutoFit/>
          </a:bodyPr>
          <a:lstStyle/>
          <a:p>
            <a:pPr algn="ctr">
              <a:lnSpc>
                <a:spcPct val="90000"/>
              </a:lnSpc>
              <a:spcBef>
                <a:spcPts val="1000"/>
              </a:spcBef>
            </a:pPr>
            <a:r>
              <a:rPr lang="en-US" altLang="en-US" sz="2400" b="1" i="1" dirty="0">
                <a:latin typeface="Times New Roman" panose="02020603050405020304" pitchFamily="18" charset="0"/>
              </a:rPr>
              <a:t>Introductory Seminar </a:t>
            </a:r>
            <a:endParaRPr lang="en-US" altLang="en-US" sz="2400" b="1" i="1" u="sng" dirty="0">
              <a:latin typeface="Times New Roman" panose="02020603050405020304" pitchFamily="18" charset="0"/>
              <a:ea typeface="Times New Roman" panose="02020603050405020304" pitchFamily="18" charset="0"/>
            </a:endParaRPr>
          </a:p>
        </p:txBody>
      </p:sp>
      <p:sp>
        <p:nvSpPr>
          <p:cNvPr id="3079" name="Rectangle 5"/>
          <p:cNvSpPr txBox="1"/>
          <p:nvPr/>
        </p:nvSpPr>
        <p:spPr>
          <a:xfrm>
            <a:off x="1981200" y="2101850"/>
            <a:ext cx="8229600" cy="425450"/>
          </a:xfrm>
          <a:prstGeom prst="rect">
            <a:avLst/>
          </a:prstGeom>
          <a:noFill/>
          <a:ln w="9525">
            <a:noFill/>
          </a:ln>
        </p:spPr>
        <p:txBody>
          <a:bodyPr anchor="t" anchorCtr="0">
            <a:spAutoFit/>
          </a:bodyPr>
          <a:lstStyle/>
          <a:p>
            <a:pPr algn="ctr">
              <a:lnSpc>
                <a:spcPct val="90000"/>
              </a:lnSpc>
              <a:spcBef>
                <a:spcPts val="1000"/>
              </a:spcBef>
            </a:pPr>
            <a:r>
              <a:rPr lang="en-US" altLang="en-US" sz="2400" b="1" i="1" dirty="0">
                <a:latin typeface="Times New Roman" panose="02020603050405020304" pitchFamily="18" charset="0"/>
              </a:rPr>
              <a:t>On</a:t>
            </a:r>
            <a:endParaRPr lang="en-US" altLang="en-US" sz="2400" b="1" i="1" u="sng" dirty="0">
              <a:latin typeface="Times New Roman" panose="02020603050405020304" pitchFamily="18" charset="0"/>
              <a:ea typeface="Times New Roman" panose="02020603050405020304" pitchFamily="18" charset="0"/>
            </a:endParaRPr>
          </a:p>
        </p:txBody>
      </p:sp>
      <p:sp>
        <p:nvSpPr>
          <p:cNvPr id="2" name="TextBox 1"/>
          <p:cNvSpPr txBox="1"/>
          <p:nvPr/>
        </p:nvSpPr>
        <p:spPr>
          <a:xfrm>
            <a:off x="530352" y="347472"/>
            <a:ext cx="11055096" cy="1384995"/>
          </a:xfrm>
          <a:prstGeom prst="rect">
            <a:avLst/>
          </a:prstGeom>
          <a:noFill/>
        </p:spPr>
        <p:txBody>
          <a:bodyPr wrap="square" rtlCol="0">
            <a:spAutoFit/>
          </a:bodyPr>
          <a:lstStyle/>
          <a:p>
            <a:pPr algn="ctr"/>
            <a:endParaRPr lang="en-US" dirty="0"/>
          </a:p>
          <a:p>
            <a:pPr algn="ctr"/>
            <a:endParaRPr lang="en-US" dirty="0"/>
          </a:p>
          <a:p>
            <a:pPr algn="ctr">
              <a:lnSpc>
                <a:spcPct val="150000"/>
              </a:lnSpc>
            </a:pPr>
            <a:r>
              <a:rPr lang="en-US" b="1" dirty="0">
                <a:solidFill>
                  <a:schemeClr val="accent2"/>
                </a:solidFill>
                <a:latin typeface="Times New Roman" panose="02020603050405020304" pitchFamily="18" charset="0"/>
                <a:cs typeface="Times New Roman" panose="02020603050405020304" pitchFamily="18" charset="0"/>
              </a:rPr>
              <a:t>G H RAISONI UNIVERSITY, AMRAVATI</a:t>
            </a:r>
          </a:p>
          <a:p>
            <a:pPr algn="ctr">
              <a:lnSpc>
                <a:spcPct val="150000"/>
              </a:lnSpc>
            </a:pPr>
            <a:r>
              <a:rPr lang="en-US" sz="1400" b="1" dirty="0">
                <a:latin typeface="Times New Roman" panose="02020603050405020304" pitchFamily="18" charset="0"/>
                <a:cs typeface="Times New Roman" panose="02020603050405020304" pitchFamily="18" charset="0"/>
              </a:rPr>
              <a:t>Department of Computer Science and Engineering</a:t>
            </a:r>
          </a:p>
        </p:txBody>
      </p:sp>
      <p:sp>
        <p:nvSpPr>
          <p:cNvPr id="11" name="Footer Placeholder 10"/>
          <p:cNvSpPr>
            <a:spLocks noGrp="1"/>
          </p:cNvSpPr>
          <p:nvPr>
            <p:ph type="ftr" sz="quarter" idx="11"/>
          </p:nvPr>
        </p:nvSpPr>
        <p:spPr>
          <a:xfrm>
            <a:off x="-1947672" y="6222614"/>
            <a:ext cx="10101072" cy="498861"/>
          </a:xfrm>
        </p:spPr>
        <p:txBody>
          <a:bodyPr/>
          <a:lstStyle/>
          <a:p>
            <a:r>
              <a:rPr lang="en-US" b="1" dirty="0">
                <a:solidFill>
                  <a:srgbClr val="002060"/>
                </a:solidFill>
              </a:rPr>
              <a:t> </a:t>
            </a:r>
            <a:r>
              <a:rPr lang="en-US" sz="1100" dirty="0">
                <a:solidFill>
                  <a:srgbClr val="002060"/>
                </a:solidFill>
              </a:rPr>
              <a:t>Nagpur| Pune | </a:t>
            </a:r>
            <a:r>
              <a:rPr lang="en-US" sz="1100" dirty="0" err="1">
                <a:solidFill>
                  <a:srgbClr val="002060"/>
                </a:solidFill>
              </a:rPr>
              <a:t>Jalgaon</a:t>
            </a:r>
            <a:r>
              <a:rPr lang="en-US" sz="1100" dirty="0">
                <a:solidFill>
                  <a:srgbClr val="002060"/>
                </a:solidFill>
              </a:rPr>
              <a:t> | Amravati | </a:t>
            </a:r>
            <a:r>
              <a:rPr lang="en-US" sz="1100" dirty="0" err="1">
                <a:solidFill>
                  <a:srgbClr val="002060"/>
                </a:solidFill>
              </a:rPr>
              <a:t>Pandhurna</a:t>
            </a:r>
            <a:r>
              <a:rPr lang="en-US" sz="1100" dirty="0">
                <a:solidFill>
                  <a:srgbClr val="002060"/>
                </a:solidFill>
              </a:rPr>
              <a:t> | </a:t>
            </a:r>
            <a:r>
              <a:rPr lang="en-US" sz="1100" dirty="0" err="1">
                <a:solidFill>
                  <a:srgbClr val="002060"/>
                </a:solidFill>
              </a:rPr>
              <a:t>Bhandara</a:t>
            </a:r>
            <a:r>
              <a:rPr lang="en-US" sz="1100" dirty="0">
                <a:solidFill>
                  <a:srgbClr val="002060"/>
                </a:solidFill>
              </a:rPr>
              <a:t> </a:t>
            </a:r>
            <a:endParaRPr lang="en-IN" sz="1100" dirty="0">
              <a:solidFill>
                <a:srgbClr val="002060"/>
              </a:solidFill>
            </a:endParaRPr>
          </a:p>
        </p:txBody>
      </p:sp>
      <p:pic>
        <p:nvPicPr>
          <p:cNvPr id="18" name="Picture 1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39146" y="45770"/>
            <a:ext cx="1710309" cy="758902"/>
          </a:xfrm>
          <a:prstGeom prst="rect">
            <a:avLst/>
          </a:prstGeom>
          <a:noFill/>
          <a:ln>
            <a:noFill/>
          </a:ln>
        </p:spPr>
      </p:pic>
      <p:pic>
        <p:nvPicPr>
          <p:cNvPr id="26" name="Picture 25"/>
          <p:cNvPicPr/>
          <p:nvPr/>
        </p:nvPicPr>
        <p:blipFill>
          <a:blip r:embed="rId4">
            <a:extLst>
              <a:ext uri="{28A0092B-C50C-407E-A947-70E740481C1C}">
                <a14:useLocalDpi xmlns:a14="http://schemas.microsoft.com/office/drawing/2010/main" val="0"/>
              </a:ext>
            </a:extLst>
          </a:blip>
          <a:srcRect/>
          <a:stretch>
            <a:fillRect/>
          </a:stretch>
        </p:blipFill>
        <p:spPr bwMode="auto">
          <a:xfrm>
            <a:off x="134842" y="6222614"/>
            <a:ext cx="1233424" cy="39446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0" name="Content Placeholder 2"/>
          <p:cNvSpPr txBox="1"/>
          <p:nvPr/>
        </p:nvSpPr>
        <p:spPr bwMode="auto">
          <a:xfrm>
            <a:off x="428625" y="1041400"/>
            <a:ext cx="10445750" cy="41211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 </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lang="en-US" noProof="0" dirty="0">
                <a:ln>
                  <a:noFill/>
                </a:ln>
                <a:effectLst/>
                <a:uLnTx/>
                <a:uFillTx/>
                <a:latin typeface="Times New Roman" panose="02020603050405020304" pitchFamily="18" charset="0"/>
                <a:cs typeface="Times New Roman" panose="02020603050405020304" pitchFamily="18" charset="0"/>
                <a:sym typeface="+mn-ea"/>
              </a:rPr>
              <a:t>Literature Survey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lang="en-US" noProof="0" dirty="0">
                <a:ln>
                  <a:noFill/>
                </a:ln>
                <a:effectLst/>
                <a:uLnTx/>
                <a:uFillTx/>
                <a:latin typeface="Times New Roman" panose="02020603050405020304" pitchFamily="18" charset="0"/>
                <a:cs typeface="Times New Roman" panose="02020603050405020304" pitchFamily="18" charset="0"/>
                <a:sym typeface="+mn-ea"/>
              </a:rPr>
              <a:t>Problem Statement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Justifications for Selecting the Title</a:t>
            </a:r>
          </a:p>
          <a:p>
            <a:pPr marL="274320" indent="-274320" algn="just" eaLnBrk="1" fontAlgn="auto" hangingPunct="1">
              <a:lnSpc>
                <a:spcPct val="100000"/>
              </a:lnSpc>
              <a:spcAft>
                <a:spcPts val="0"/>
              </a:spcAft>
              <a:buClr>
                <a:schemeClr val="accent3"/>
              </a:buClr>
              <a:buFont typeface="Wingdings 2" panose="05020102010507070707"/>
              <a:buChar char=""/>
              <a:defRPr/>
            </a:pPr>
            <a:r>
              <a:rPr lang="en-IN" dirty="0">
                <a:latin typeface="Times New Roman" panose="02020603050405020304" pitchFamily="18" charset="0"/>
                <a:cs typeface="Times New Roman" panose="02020603050405020304" pitchFamily="18" charset="0"/>
              </a:rPr>
              <a:t>Objectives of the Project</a:t>
            </a:r>
            <a:endParaRPr lang="en-US" dirty="0">
              <a:latin typeface="Times New Roman" panose="02020603050405020304" pitchFamily="18" charset="0"/>
              <a:cs typeface="Times New Roman" panose="02020603050405020304" pitchFamily="18" charset="0"/>
            </a:endParaRP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Block Diagram</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Expected Result </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Work plan </a:t>
            </a:r>
          </a:p>
          <a:p>
            <a:pPr marL="274320" marR="0" lvl="0" indent="-274320" algn="just" defTabSz="914400" rtl="0" eaLnBrk="1" fontAlgn="auto" latinLnBrk="0" hangingPunct="1">
              <a:lnSpc>
                <a:spcPct val="100000"/>
              </a:lnSpc>
              <a:spcBef>
                <a:spcPts val="1000"/>
              </a:spcBef>
              <a:spcAft>
                <a:spcPts val="0"/>
              </a:spcAft>
              <a:buClr>
                <a:schemeClr val="accent3"/>
              </a:buClr>
              <a:buSzTx/>
              <a:buFont typeface="Wingdings 2" panose="05020102010507070707"/>
              <a:buChar char=""/>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 </a:t>
            </a:r>
          </a:p>
        </p:txBody>
      </p:sp>
      <p:sp>
        <p:nvSpPr>
          <p:cNvPr id="12"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Contents</a:t>
            </a:r>
          </a:p>
        </p:txBody>
      </p:sp>
      <p:sp>
        <p:nvSpPr>
          <p:cNvPr id="3" name="Footer Placeholder 2"/>
          <p:cNvSpPr>
            <a:spLocks noGrp="1"/>
          </p:cNvSpPr>
          <p:nvPr>
            <p:ph type="ftr" sz="quarter" idx="11"/>
          </p:nvPr>
        </p:nvSpPr>
        <p:spPr>
          <a:xfrm>
            <a:off x="-1709928" y="6345936"/>
            <a:ext cx="9826752" cy="297179"/>
          </a:xfrm>
        </p:spPr>
        <p:txBody>
          <a:bodyPr/>
          <a:lstStyle/>
          <a:p>
            <a:pPr>
              <a:defRPr/>
            </a:pPr>
            <a:r>
              <a:rPr lang="en-US" sz="1100" dirty="0">
                <a:solidFill>
                  <a:srgbClr val="002060"/>
                </a:solidFill>
              </a:rPr>
              <a:t>Nagpur</a:t>
            </a:r>
            <a:r>
              <a:rPr lang="en-US" sz="1100" b="1" dirty="0">
                <a:solidFill>
                  <a:srgbClr val="002060"/>
                </a:solidFill>
              </a:rPr>
              <a:t> |</a:t>
            </a:r>
            <a:r>
              <a:rPr lang="en-US" sz="1100" dirty="0">
                <a:solidFill>
                  <a:srgbClr val="002060"/>
                </a:solidFill>
              </a:rPr>
              <a:t> Pune </a:t>
            </a:r>
            <a:r>
              <a:rPr lang="en-US" sz="1100" b="1" dirty="0">
                <a:solidFill>
                  <a:srgbClr val="002060"/>
                </a:solidFill>
              </a:rPr>
              <a:t>|</a:t>
            </a:r>
            <a:r>
              <a:rPr lang="en-US" sz="1100" dirty="0">
                <a:solidFill>
                  <a:srgbClr val="002060"/>
                </a:solidFill>
              </a:rPr>
              <a:t> </a:t>
            </a:r>
            <a:r>
              <a:rPr lang="en-US" sz="1100" dirty="0" err="1">
                <a:solidFill>
                  <a:srgbClr val="002060"/>
                </a:solidFill>
              </a:rPr>
              <a:t>Jalgaon</a:t>
            </a:r>
            <a:r>
              <a:rPr lang="en-US" sz="1100" dirty="0">
                <a:solidFill>
                  <a:srgbClr val="002060"/>
                </a:solidFill>
              </a:rPr>
              <a:t> </a:t>
            </a:r>
            <a:r>
              <a:rPr lang="en-US" sz="1100" b="1" dirty="0">
                <a:solidFill>
                  <a:srgbClr val="002060"/>
                </a:solidFill>
              </a:rPr>
              <a:t>|</a:t>
            </a:r>
            <a:r>
              <a:rPr lang="en-US" sz="1100" dirty="0">
                <a:solidFill>
                  <a:srgbClr val="002060"/>
                </a:solidFill>
              </a:rPr>
              <a:t> Amravati </a:t>
            </a:r>
            <a:r>
              <a:rPr lang="en-US" sz="1100" b="1" dirty="0">
                <a:solidFill>
                  <a:srgbClr val="002060"/>
                </a:solidFill>
              </a:rPr>
              <a:t>|</a:t>
            </a:r>
            <a:r>
              <a:rPr lang="en-US" sz="1100" dirty="0">
                <a:solidFill>
                  <a:srgbClr val="002060"/>
                </a:solidFill>
              </a:rPr>
              <a:t> </a:t>
            </a:r>
            <a:r>
              <a:rPr lang="en-US" sz="1100" dirty="0" err="1">
                <a:solidFill>
                  <a:srgbClr val="002060"/>
                </a:solidFill>
              </a:rPr>
              <a:t>Pandhurna</a:t>
            </a:r>
            <a:r>
              <a:rPr lang="en-US" sz="1100" dirty="0">
                <a:solidFill>
                  <a:srgbClr val="002060"/>
                </a:solidFill>
              </a:rPr>
              <a:t> </a:t>
            </a:r>
            <a:r>
              <a:rPr lang="en-US" sz="1100" b="1" dirty="0">
                <a:solidFill>
                  <a:srgbClr val="002060"/>
                </a:solidFill>
              </a:rPr>
              <a:t>| </a:t>
            </a:r>
            <a:r>
              <a:rPr lang="en-US" sz="1100" dirty="0" err="1">
                <a:solidFill>
                  <a:srgbClr val="002060"/>
                </a:solidFill>
              </a:rPr>
              <a:t>Bhandara</a:t>
            </a:r>
            <a:r>
              <a:rPr lang="en-US" sz="1100" dirty="0">
                <a:solidFill>
                  <a:srgbClr val="002060"/>
                </a:solidFill>
              </a:rPr>
              <a:t> </a:t>
            </a:r>
            <a:endParaRPr lang="en-IN" sz="1100" dirty="0">
              <a:solidFill>
                <a:srgbClr val="002060"/>
              </a:solidFill>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3" name="Picture 12"/>
          <p:cNvPicPr/>
          <p:nvPr/>
        </p:nvPicPr>
        <p:blipFill>
          <a:blip r:embed="rId3">
            <a:extLst>
              <a:ext uri="{28A0092B-C50C-407E-A947-70E740481C1C}">
                <a14:useLocalDpi xmlns:a14="http://schemas.microsoft.com/office/drawing/2010/main" val="0"/>
              </a:ext>
            </a:extLst>
          </a:blip>
          <a:srcRect/>
          <a:stretch>
            <a:fillRect/>
          </a:stretch>
        </p:blipFill>
        <p:spPr bwMode="auto">
          <a:xfrm>
            <a:off x="274320" y="6073003"/>
            <a:ext cx="1102360" cy="4099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4"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Introduction</a:t>
            </a:r>
          </a:p>
        </p:txBody>
      </p:sp>
      <p:sp>
        <p:nvSpPr>
          <p:cNvPr id="3" name="Footer Placeholder 2"/>
          <p:cNvSpPr>
            <a:spLocks noGrp="1"/>
          </p:cNvSpPr>
          <p:nvPr>
            <p:ph type="ftr" sz="quarter" idx="11"/>
          </p:nvPr>
        </p:nvSpPr>
        <p:spPr>
          <a:xfrm>
            <a:off x="-1609344" y="6364224"/>
            <a:ext cx="9762744" cy="357251"/>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44348" y="6214418"/>
            <a:ext cx="1102360" cy="409973"/>
          </a:xfrm>
          <a:prstGeom prst="rect">
            <a:avLst/>
          </a:prstGeom>
          <a:noFill/>
          <a:ln>
            <a:noFill/>
          </a:ln>
        </p:spPr>
      </p:pic>
      <p:sp>
        <p:nvSpPr>
          <p:cNvPr id="4" name="TextBox 3">
            <a:extLst>
              <a:ext uri="{FF2B5EF4-FFF2-40B4-BE49-F238E27FC236}">
                <a16:creationId xmlns:a16="http://schemas.microsoft.com/office/drawing/2014/main" id="{6D403BD7-B371-8E83-F85A-65D8B4E45F15}"/>
              </a:ext>
            </a:extLst>
          </p:cNvPr>
          <p:cNvSpPr txBox="1"/>
          <p:nvPr/>
        </p:nvSpPr>
        <p:spPr>
          <a:xfrm>
            <a:off x="444909" y="1056230"/>
            <a:ext cx="11324304" cy="3170099"/>
          </a:xfrm>
          <a:prstGeom prst="rect">
            <a:avLst/>
          </a:prstGeom>
          <a:noFill/>
        </p:spPr>
        <p:txBody>
          <a:bodyPr wrap="square">
            <a:spAutoFit/>
          </a:bodyPr>
          <a:lstStyle/>
          <a:p>
            <a:pPr marL="342900" indent="-342900">
              <a:buFont typeface="Wingdings" panose="05000000000000000000" pitchFamily="2" charset="2"/>
              <a:buChar char="v"/>
            </a:pPr>
            <a:r>
              <a:rPr lang="en-US" sz="2000" b="1" dirty="0"/>
              <a:t>Introduction to Style Spectrum </a:t>
            </a:r>
            <a:r>
              <a:rPr lang="en-US" dirty="0"/>
              <a:t>:</a:t>
            </a:r>
          </a:p>
          <a:p>
            <a:pPr algn="ctr"/>
            <a:r>
              <a:rPr lang="en-US" dirty="0"/>
              <a:t>      Welcome to the presentation on the “Style Spectrum“ e-commerce  website. In today's digital age, online shopping has become an integral part of our lives, offering convenience, variety, and accessibility like never before. The “Style Spectrum" website aims to revolutionize the way people shop for clothing and accessories, providing a seamless and engaging platform tailored to their unique tastes and preferences.</a:t>
            </a:r>
          </a:p>
          <a:p>
            <a:pPr algn="ctr"/>
            <a:endParaRPr lang="en-US" dirty="0"/>
          </a:p>
          <a:p>
            <a:pPr algn="ctr"/>
            <a:r>
              <a:rPr lang="en-US" dirty="0"/>
              <a:t>Through a combination of cutting-edge technologies, intuitive design, and a commitment to excellence, our e-commerce platform promises to deliver a superior shopping experience that transcends traditional brick-and-mortar stores. Join us as we delve into the features, functionalities, and innovations that set “Style Spectrum" apart in the world of online retail.</a:t>
            </a:r>
          </a:p>
          <a:p>
            <a:pPr algn="ctr"/>
            <a:r>
              <a:rPr lang="en-US" dirty="0"/>
              <a: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239157161"/>
              </p:ext>
            </p:extLst>
          </p:nvPr>
        </p:nvGraphicFramePr>
        <p:xfrm>
          <a:off x="2" y="639764"/>
          <a:ext cx="12191998" cy="5577904"/>
        </p:xfrm>
        <a:graphic>
          <a:graphicData uri="http://schemas.openxmlformats.org/drawingml/2006/table">
            <a:tbl>
              <a:tblPr firstRow="1" bandRow="1">
                <a:tableStyleId>{21E4AEA4-8DFA-4A89-87EB-49C32662AFE0}</a:tableStyleId>
              </a:tblPr>
              <a:tblGrid>
                <a:gridCol w="1149204">
                  <a:extLst>
                    <a:ext uri="{9D8B030D-6E8A-4147-A177-3AD203B41FA5}">
                      <a16:colId xmlns:a16="http://schemas.microsoft.com/office/drawing/2014/main" val="20000"/>
                    </a:ext>
                  </a:extLst>
                </a:gridCol>
                <a:gridCol w="4946794">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241229">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Paper</a:t>
                      </a:r>
                      <a:r>
                        <a:rPr lang="en-US" sz="1800" baseline="0" dirty="0">
                          <a:solidFill>
                            <a:schemeClr val="tx1"/>
                          </a:solidFill>
                          <a:latin typeface="Times New Roman" panose="02020603050405020304" pitchFamily="18" charset="0"/>
                          <a:cs typeface="Times New Roman" panose="02020603050405020304" pitchFamily="18" charset="0"/>
                        </a:rPr>
                        <a:t> Title and its Author</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496937">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Title: E-commerce 2020: Trends and Strategies</a:t>
                      </a:r>
                    </a:p>
                    <a:p>
                      <a:pPr algn="l"/>
                      <a:r>
                        <a:rPr lang="en-US" sz="1800" dirty="0">
                          <a:solidFill>
                            <a:schemeClr val="tx1"/>
                          </a:solidFill>
                          <a:latin typeface="Times New Roman" panose="02020603050405020304" pitchFamily="18" charset="0"/>
                          <a:cs typeface="Times New Roman" panose="02020603050405020304" pitchFamily="18" charset="0"/>
                        </a:rPr>
                        <a:t>Author: Dave Chaffey</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Publication: Smart Insights</a:t>
                      </a:r>
                    </a:p>
                    <a:p>
                      <a:pPr algn="l"/>
                      <a:r>
                        <a:rPr lang="en-US" sz="1800" dirty="0">
                          <a:solidFill>
                            <a:schemeClr val="tx1"/>
                          </a:solidFill>
                          <a:latin typeface="Times New Roman" panose="02020603050405020304" pitchFamily="18" charset="0"/>
                          <a:cs typeface="Times New Roman" panose="02020603050405020304" pitchFamily="18" charset="0"/>
                        </a:rPr>
                        <a:t>Year: 2020</a:t>
                      </a:r>
                    </a:p>
                    <a:p>
                      <a:pPr algn="l"/>
                      <a:r>
                        <a:rPr lang="en-US" sz="1800" dirty="0">
                          <a:solidFill>
                            <a:schemeClr val="tx1"/>
                          </a:solidFill>
                          <a:latin typeface="Times New Roman" panose="02020603050405020304" pitchFamily="18" charset="0"/>
                          <a:cs typeface="Times New Roman" panose="02020603050405020304" pitchFamily="18" charset="0"/>
                        </a:rPr>
                        <a:t>Link: https://www.smartinsights.com/ecommerce/ecommerce-strategy/ecommerce-trends/</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The paper outlines key trends shaping the e-commerce industry, including the rise of mobile shopping, the importance of personalization, and the integration of advanced technologies like AI and AR.</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37675">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Title: HTML and CSS: Design and Build Websites Author: Jon Duckett</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Publication: Wiley Publishing, Inc.</a:t>
                      </a:r>
                    </a:p>
                    <a:p>
                      <a:pPr algn="l"/>
                      <a:r>
                        <a:rPr lang="en-US" sz="1800" dirty="0">
                          <a:solidFill>
                            <a:schemeClr val="tx1"/>
                          </a:solidFill>
                          <a:latin typeface="Times New Roman" panose="02020603050405020304" pitchFamily="18" charset="0"/>
                          <a:cs typeface="Times New Roman" panose="02020603050405020304" pitchFamily="18" charset="0"/>
                        </a:rPr>
                        <a:t>Year: 2011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This book provides a comprehensive introduction to HTML and CSS, essential technologies for building modern websites.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37675">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3</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Title: Don't Make Me Think, Revisited: A Common Sense Approach to Web Usability</a:t>
                      </a:r>
                    </a:p>
                    <a:p>
                      <a:pPr algn="l"/>
                      <a:r>
                        <a:rPr lang="en-US" sz="1800" dirty="0">
                          <a:solidFill>
                            <a:schemeClr val="tx1"/>
                          </a:solidFill>
                          <a:latin typeface="Times New Roman" panose="02020603050405020304" pitchFamily="18" charset="0"/>
                          <a:cs typeface="Times New Roman" panose="02020603050405020304" pitchFamily="18" charset="0"/>
                        </a:rPr>
                        <a:t>Author: Steve Krug</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Publication: New Riders</a:t>
                      </a:r>
                    </a:p>
                    <a:p>
                      <a:pPr algn="l"/>
                      <a:r>
                        <a:rPr lang="en-US" sz="1800" dirty="0">
                          <a:solidFill>
                            <a:schemeClr val="tx1"/>
                          </a:solidFill>
                          <a:latin typeface="Times New Roman" panose="02020603050405020304" pitchFamily="18" charset="0"/>
                          <a:cs typeface="Times New Roman" panose="02020603050405020304" pitchFamily="18" charset="0"/>
                        </a:rPr>
                        <a:t>Year: 2014</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The book emphasizes the importance of usability in web design, advocating for intuitive navigation and clear layout to enhance user experience.</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Literature Survey</a:t>
            </a:r>
          </a:p>
        </p:txBody>
      </p:sp>
      <p:sp>
        <p:nvSpPr>
          <p:cNvPr id="4" name="Footer Placeholder 3"/>
          <p:cNvSpPr>
            <a:spLocks noGrp="1"/>
          </p:cNvSpPr>
          <p:nvPr>
            <p:ph type="ftr" sz="quarter" idx="11"/>
          </p:nvPr>
        </p:nvSpPr>
        <p:spPr>
          <a:xfrm>
            <a:off x="-1289304" y="6117334"/>
            <a:ext cx="9150096" cy="60413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IN" dirty="0">
              <a:solidFill>
                <a:srgbClr val="002060"/>
              </a:solidFill>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IN" sz="11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1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1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1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100" b="0" i="0" u="none" strike="noStrike" kern="1200" cap="none" spc="0" normalizeH="0" baseline="0" noProof="0" dirty="0">
                <a:ln>
                  <a:noFill/>
                </a:ln>
                <a:solidFill>
                  <a:srgbClr val="002060"/>
                </a:solidFill>
                <a:effectLst/>
                <a:uLnTx/>
                <a:uFillTx/>
                <a:latin typeface="+mn-lt"/>
                <a:ea typeface="+mn-ea"/>
                <a:cs typeface="+mn-cs"/>
              </a:rPr>
              <a:t> | </a:t>
            </a:r>
            <a:r>
              <a:rPr kumimoji="0" lang="en-IN" sz="11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1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23520" y="6214418"/>
            <a:ext cx="1102360" cy="4099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59640727"/>
              </p:ext>
            </p:extLst>
          </p:nvPr>
        </p:nvGraphicFramePr>
        <p:xfrm>
          <a:off x="0" y="43455"/>
          <a:ext cx="12191999" cy="6220185"/>
        </p:xfrm>
        <a:graphic>
          <a:graphicData uri="http://schemas.openxmlformats.org/drawingml/2006/table">
            <a:tbl>
              <a:tblPr firstRow="1" bandRow="1">
                <a:tableStyleId>{21E4AEA4-8DFA-4A89-87EB-49C32662AFE0}</a:tableStyleId>
              </a:tblPr>
              <a:tblGrid>
                <a:gridCol w="1149204">
                  <a:extLst>
                    <a:ext uri="{9D8B030D-6E8A-4147-A177-3AD203B41FA5}">
                      <a16:colId xmlns:a16="http://schemas.microsoft.com/office/drawing/2014/main" val="20000"/>
                    </a:ext>
                  </a:extLst>
                </a:gridCol>
                <a:gridCol w="4946795">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1922473">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Sr. No.</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Paper</a:t>
                      </a:r>
                      <a:r>
                        <a:rPr lang="en-US" sz="1800" baseline="0" dirty="0">
                          <a:solidFill>
                            <a:schemeClr val="tx1"/>
                          </a:solidFill>
                          <a:latin typeface="Times New Roman" panose="02020603050405020304" pitchFamily="18" charset="0"/>
                          <a:cs typeface="Times New Roman" panose="02020603050405020304" pitchFamily="18" charset="0"/>
                        </a:rPr>
                        <a:t> Title and its Author</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Details of Publication</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Findings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09787">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1</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Title: E-commerce Security: Protecting Online Transactions"</a:t>
                      </a: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r>
                        <a:rPr lang="en-US" sz="1800" dirty="0">
                          <a:solidFill>
                            <a:schemeClr val="tx1"/>
                          </a:solidFill>
                          <a:latin typeface="Times New Roman" panose="02020603050405020304" pitchFamily="18" charset="0"/>
                          <a:cs typeface="Times New Roman" panose="02020603050405020304" pitchFamily="18" charset="0"/>
                        </a:rPr>
                        <a:t>Author: Akshay Kashyap</a:t>
                      </a:r>
                    </a:p>
                    <a:p>
                      <a:pPr algn="l"/>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Publication: Norton</a:t>
                      </a:r>
                    </a:p>
                    <a:p>
                      <a:pPr algn="l"/>
                      <a:r>
                        <a:rPr lang="en-US" sz="1800" dirty="0">
                          <a:solidFill>
                            <a:schemeClr val="tx1"/>
                          </a:solidFill>
                          <a:latin typeface="Times New Roman" panose="02020603050405020304" pitchFamily="18" charset="0"/>
                          <a:cs typeface="Times New Roman" panose="02020603050405020304" pitchFamily="18" charset="0"/>
                        </a:rPr>
                        <a:t>Year: 2021</a:t>
                      </a:r>
                    </a:p>
                    <a:p>
                      <a:pPr algn="l"/>
                      <a:r>
                        <a:rPr lang="en-US" sz="1800" dirty="0">
                          <a:solidFill>
                            <a:schemeClr val="tx1"/>
                          </a:solidFill>
                          <a:latin typeface="Times New Roman" panose="02020603050405020304" pitchFamily="18" charset="0"/>
                          <a:cs typeface="Times New Roman" panose="02020603050405020304" pitchFamily="18" charset="0"/>
                        </a:rPr>
                        <a:t>Link: [Norton Security](https://us.norton.com/internetsecurity-emerging-threats-ecommerce-security.html)</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The article discusses various security challenges faced by e-commerce platforms, including data breaches, payment fraud, and phishing attacks.</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55560">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2</a:t>
                      </a: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Title: The Netflix Recommender System: Algorithms, Business Value, and Innovation</a:t>
                      </a:r>
                    </a:p>
                    <a:p>
                      <a:pPr algn="l"/>
                      <a:r>
                        <a:rPr lang="en-US" sz="1800" dirty="0">
                          <a:solidFill>
                            <a:schemeClr val="tx1"/>
                          </a:solidFill>
                          <a:latin typeface="Times New Roman" panose="02020603050405020304" pitchFamily="18" charset="0"/>
                          <a:cs typeface="Times New Roman" panose="02020603050405020304" pitchFamily="18" charset="0"/>
                        </a:rPr>
                        <a:t> </a:t>
                      </a:r>
                    </a:p>
                    <a:p>
                      <a:pPr algn="l"/>
                      <a:r>
                        <a:rPr lang="en-US" sz="1800" dirty="0">
                          <a:solidFill>
                            <a:schemeClr val="tx1"/>
                          </a:solidFill>
                          <a:latin typeface="Times New Roman" panose="02020603050405020304" pitchFamily="18" charset="0"/>
                          <a:cs typeface="Times New Roman" panose="02020603050405020304" pitchFamily="18" charset="0"/>
                        </a:rPr>
                        <a:t>Author: Carlos A. Gomez-Uribe and Neil Hunt</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Publication: ACM Transactions on Management Information Systems</a:t>
                      </a:r>
                    </a:p>
                    <a:p>
                      <a:pPr algn="l"/>
                      <a:r>
                        <a:rPr lang="en-US" sz="1800" dirty="0">
                          <a:solidFill>
                            <a:schemeClr val="tx1"/>
                          </a:solidFill>
                          <a:latin typeface="Times New Roman" panose="02020603050405020304" pitchFamily="18" charset="0"/>
                          <a:cs typeface="Times New Roman" panose="02020603050405020304" pitchFamily="18" charset="0"/>
                        </a:rPr>
                        <a:t>Year: 2016</a:t>
                      </a:r>
                    </a:p>
                    <a:p>
                      <a:pPr algn="l"/>
                      <a:r>
                        <a:rPr lang="en-US" sz="1800" dirty="0">
                          <a:solidFill>
                            <a:schemeClr val="tx1"/>
                          </a:solidFill>
                          <a:latin typeface="Times New Roman" panose="02020603050405020304" pitchFamily="18" charset="0"/>
                          <a:cs typeface="Times New Roman" panose="02020603050405020304" pitchFamily="18" charset="0"/>
                        </a:rPr>
                        <a:t>Link: [ACM Digital Library](https://dl.acm.org/doi/10.1145/2843948)</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The paper explores the algorithms and business strategies behind Netflix's highly effective recommendation system.</a:t>
                      </a:r>
                    </a:p>
                    <a:p>
                      <a:pPr algn="ct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4"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Literature Survey</a:t>
            </a:r>
          </a:p>
        </p:txBody>
      </p:sp>
      <p:sp>
        <p:nvSpPr>
          <p:cNvPr id="4" name="Footer Placeholder 3"/>
          <p:cNvSpPr>
            <a:spLocks noGrp="1"/>
          </p:cNvSpPr>
          <p:nvPr>
            <p:ph type="ftr" sz="quarter" idx="11"/>
          </p:nvPr>
        </p:nvSpPr>
        <p:spPr>
          <a:xfrm>
            <a:off x="-1399032" y="6328918"/>
            <a:ext cx="9534144" cy="529082"/>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253492" y="6263640"/>
            <a:ext cx="1102360" cy="409973"/>
          </a:xfrm>
          <a:prstGeom prst="rect">
            <a:avLst/>
          </a:prstGeom>
          <a:noFill/>
          <a:ln>
            <a:noFill/>
          </a:ln>
        </p:spPr>
      </p:pic>
    </p:spTree>
    <p:extLst>
      <p:ext uri="{BB962C8B-B14F-4D97-AF65-F5344CB8AC3E}">
        <p14:creationId xmlns:p14="http://schemas.microsoft.com/office/powerpoint/2010/main" val="12255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Problem Statement</a:t>
            </a:r>
          </a:p>
        </p:txBody>
      </p:sp>
      <p:sp>
        <p:nvSpPr>
          <p:cNvPr id="3" name="Footer Placeholder 2"/>
          <p:cNvSpPr>
            <a:spLocks noGrp="1"/>
          </p:cNvSpPr>
          <p:nvPr>
            <p:ph type="ftr" sz="quarter" idx="11"/>
          </p:nvPr>
        </p:nvSpPr>
        <p:spPr>
          <a:xfrm>
            <a:off x="-1014984" y="6356350"/>
            <a:ext cx="9168384" cy="402771"/>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372364" y="6273854"/>
            <a:ext cx="1102360" cy="409973"/>
          </a:xfrm>
          <a:prstGeom prst="rect">
            <a:avLst/>
          </a:prstGeom>
          <a:noFill/>
          <a:ln>
            <a:noFill/>
          </a:ln>
        </p:spPr>
      </p:pic>
      <p:sp>
        <p:nvSpPr>
          <p:cNvPr id="2" name="TextBox 1">
            <a:extLst>
              <a:ext uri="{FF2B5EF4-FFF2-40B4-BE49-F238E27FC236}">
                <a16:creationId xmlns:a16="http://schemas.microsoft.com/office/drawing/2014/main" id="{B5283B57-88AF-A71D-206A-A04CA615CC0E}"/>
              </a:ext>
            </a:extLst>
          </p:cNvPr>
          <p:cNvSpPr txBox="1"/>
          <p:nvPr/>
        </p:nvSpPr>
        <p:spPr>
          <a:xfrm>
            <a:off x="550607" y="1140542"/>
            <a:ext cx="11179278" cy="3416320"/>
          </a:xfrm>
          <a:prstGeom prst="rect">
            <a:avLst/>
          </a:prstGeom>
          <a:noFill/>
        </p:spPr>
        <p:txBody>
          <a:bodyPr wrap="square" rtlCol="0">
            <a:spAutoFit/>
          </a:bodyPr>
          <a:lstStyle/>
          <a:p>
            <a:pPr marL="285750" indent="-285750" eaLnBrk="0" hangingPunct="0">
              <a:buFont typeface="Arial" panose="020B0604020202020204" pitchFamily="34" charset="0"/>
              <a:buChar char="•"/>
            </a:pPr>
            <a:r>
              <a:rPr lang="en-US" altLang="en-US" dirty="0">
                <a:latin typeface="Times New Roman" panose="02020603050405020304" pitchFamily="18" charset="0"/>
              </a:rPr>
              <a:t>User Experience Optimization</a:t>
            </a:r>
          </a:p>
          <a:p>
            <a:pPr eaLnBrk="0" hangingPunct="0"/>
            <a:r>
              <a:rPr lang="en-US" altLang="en-US" dirty="0">
                <a:latin typeface="Times New Roman" panose="02020603050405020304" pitchFamily="18" charset="0"/>
              </a:rPr>
              <a:t>   - Problem: Users often experience frustration with slow-loading pages and difficult navigation on e-commerce websites.</a:t>
            </a:r>
          </a:p>
          <a:p>
            <a:pPr eaLnBrk="0" hangingPunct="0"/>
            <a:r>
              <a:rPr lang="en-US" altLang="en-US" dirty="0">
                <a:latin typeface="Times New Roman" panose="02020603050405020304" pitchFamily="18" charset="0"/>
              </a:rPr>
              <a:t>   - Solution: Optimize the website's performance and design intuitive navigation to ensure a smooth and engaging user experience.</a:t>
            </a:r>
          </a:p>
          <a:p>
            <a:pPr marL="285750" indent="-285750" eaLnBrk="0" hangingPunct="0">
              <a:buFont typeface="Arial" panose="020B0604020202020204" pitchFamily="34" charset="0"/>
              <a:buChar char="•"/>
            </a:pPr>
            <a:endParaRPr lang="en-IN" altLang="en-US" dirty="0">
              <a:latin typeface="Times New Roman" panose="02020603050405020304" pitchFamily="18" charset="0"/>
            </a:endParaRPr>
          </a:p>
          <a:p>
            <a:pPr marL="285750" indent="-285750" eaLnBrk="0" hangingPunct="0">
              <a:buFont typeface="Arial" panose="020B0604020202020204" pitchFamily="34" charset="0"/>
              <a:buChar char="•"/>
            </a:pPr>
            <a:r>
              <a:rPr lang="en-US" altLang="en-US" dirty="0">
                <a:latin typeface="Times New Roman" panose="02020603050405020304" pitchFamily="18" charset="0"/>
              </a:rPr>
              <a:t>Personalization of Shopping Experience</a:t>
            </a:r>
          </a:p>
          <a:p>
            <a:pPr eaLnBrk="0" hangingPunct="0"/>
            <a:r>
              <a:rPr lang="en-US" altLang="en-US" dirty="0">
                <a:latin typeface="Times New Roman" panose="02020603050405020304" pitchFamily="18" charset="0"/>
              </a:rPr>
              <a:t>   - Problem: Many online shopping platforms fail to provide personalized recommendations that align with users' unique tastes and preferences.</a:t>
            </a:r>
          </a:p>
          <a:p>
            <a:pPr eaLnBrk="0" hangingPunct="0"/>
            <a:r>
              <a:rPr lang="en-US" altLang="en-US" dirty="0">
                <a:latin typeface="Times New Roman" panose="02020603050405020304" pitchFamily="18" charset="0"/>
              </a:rPr>
              <a:t>   - Solution: Implement advanced algorithms and data analytics to offer personalized product recommendations and enhance user satisfaction.</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7170" name="TextBox 7"/>
          <p:cNvSpPr txBox="1"/>
          <p:nvPr/>
        </p:nvSpPr>
        <p:spPr>
          <a:xfrm>
            <a:off x="427970" y="836622"/>
            <a:ext cx="10829966" cy="5078313"/>
          </a:xfrm>
          <a:prstGeom prst="rect">
            <a:avLst/>
          </a:prstGeom>
          <a:noFill/>
          <a:ln w="9525">
            <a:noFill/>
          </a:ln>
        </p:spPr>
        <p:txBody>
          <a:bodyPr wrap="square" anchor="t" anchorCtr="0">
            <a:spAutoFit/>
          </a:bodyPr>
          <a:lstStyle/>
          <a:p>
            <a:pPr eaLnBrk="0" hangingPunct="0"/>
            <a:r>
              <a:rPr lang="en-IN" altLang="en-US" dirty="0">
                <a:latin typeface="Times New Roman" panose="02020603050405020304" pitchFamily="18" charset="0"/>
              </a:rPr>
              <a:t>Justifications for Selecting the Title</a:t>
            </a:r>
          </a:p>
          <a:p>
            <a:pPr eaLnBrk="0" hangingPunct="0"/>
            <a:endParaRPr lang="en-IN" altLang="en-US" dirty="0">
              <a:latin typeface="Times New Roman" panose="02020603050405020304" pitchFamily="18" charset="0"/>
            </a:endParaRPr>
          </a:p>
          <a:p>
            <a:pPr marL="285750" indent="-285750" eaLnBrk="0" hangingPunct="0">
              <a:buFont typeface="Arial" panose="020B0604020202020204" pitchFamily="34" charset="0"/>
              <a:buChar char="•"/>
            </a:pPr>
            <a:r>
              <a:rPr lang="en-IN" altLang="en-US" dirty="0">
                <a:latin typeface="Times New Roman" panose="02020603050405020304" pitchFamily="18" charset="0"/>
              </a:rPr>
              <a:t> </a:t>
            </a:r>
            <a:r>
              <a:rPr lang="en-US" altLang="en-US" dirty="0">
                <a:latin typeface="Times New Roman" panose="02020603050405020304" pitchFamily="18" charset="0"/>
              </a:rPr>
              <a:t>Conveys a Wide Range of Offerings</a:t>
            </a:r>
          </a:p>
          <a:p>
            <a:pPr eaLnBrk="0" hangingPunct="0"/>
            <a:r>
              <a:rPr lang="en-US" altLang="en-US" dirty="0">
                <a:latin typeface="Times New Roman" panose="02020603050405020304" pitchFamily="18" charset="0"/>
              </a:rPr>
              <a:t>   - Justification: The word "Spectrum" implies a wide range and variety, suggesting that the website offers a diverse collection of clothing, footwear, and accessories. This aligns with the aim of providing users with a broad selection of products to choose from, catering to different tastes and preferences.</a:t>
            </a:r>
          </a:p>
          <a:p>
            <a:pPr marL="285750" indent="-285750" eaLnBrk="0" hangingPunct="0">
              <a:buFont typeface="Arial" panose="020B0604020202020204" pitchFamily="34" charset="0"/>
              <a:buChar char="•"/>
            </a:pPr>
            <a:endParaRPr lang="en-US" altLang="en-US" dirty="0">
              <a:latin typeface="Times New Roman" panose="02020603050405020304" pitchFamily="18" charset="0"/>
            </a:endParaRPr>
          </a:p>
          <a:p>
            <a:pPr marL="285750" indent="-285750" eaLnBrk="0" hangingPunct="0">
              <a:buFont typeface="Arial" panose="020B0604020202020204" pitchFamily="34" charset="0"/>
              <a:buChar char="•"/>
            </a:pPr>
            <a:r>
              <a:rPr lang="en-US" altLang="en-US" dirty="0">
                <a:latin typeface="Times New Roman" panose="02020603050405020304" pitchFamily="18" charset="0"/>
              </a:rPr>
              <a:t> Emphasizes Personal Style</a:t>
            </a:r>
          </a:p>
          <a:p>
            <a:pPr eaLnBrk="0" hangingPunct="0"/>
            <a:r>
              <a:rPr lang="en-US" altLang="en-US" dirty="0">
                <a:latin typeface="Times New Roman" panose="02020603050405020304" pitchFamily="18" charset="0"/>
              </a:rPr>
              <a:t>  - Justification: The term "Style" directly relates to fashion and personal appearance. By incorporating this word, the title immediately communicates the website's focus on helping users express their individuality through their clothing and accessories choices.</a:t>
            </a:r>
          </a:p>
          <a:p>
            <a:pPr marL="285750" indent="-285750" eaLnBrk="0" hangingPunct="0">
              <a:buFont typeface="Arial" panose="020B0604020202020204" pitchFamily="34" charset="0"/>
              <a:buChar char="•"/>
            </a:pPr>
            <a:endParaRPr lang="en-US" altLang="en-US" dirty="0">
              <a:latin typeface="Times New Roman" panose="02020603050405020304" pitchFamily="18" charset="0"/>
            </a:endParaRPr>
          </a:p>
          <a:p>
            <a:pPr marL="285750" indent="-285750" eaLnBrk="0" hangingPunct="0">
              <a:buFont typeface="Arial" panose="020B0604020202020204" pitchFamily="34" charset="0"/>
              <a:buChar char="•"/>
            </a:pPr>
            <a:r>
              <a:rPr lang="en-US" altLang="en-US" dirty="0">
                <a:latin typeface="Times New Roman" panose="02020603050405020304" pitchFamily="18" charset="0"/>
              </a:rPr>
              <a:t>Modern and Sophisticated Appeal</a:t>
            </a:r>
          </a:p>
          <a:p>
            <a:pPr eaLnBrk="0" hangingPunct="0"/>
            <a:r>
              <a:rPr lang="en-US" altLang="en-US" dirty="0">
                <a:latin typeface="Times New Roman" panose="02020603050405020304" pitchFamily="18" charset="0"/>
              </a:rPr>
              <a:t>   - Justification: "Style Spectrum" has a contemporary and sophisticated ring to it, which resonates with the modern, fashion-forward audience the website targets. This title reflects the brand's ethos of sophistication and modernity, appealing to users looking for trendy and high-quality products.</a:t>
            </a:r>
          </a:p>
          <a:p>
            <a:pPr eaLnBrk="0" hangingPunct="0"/>
            <a:r>
              <a:rPr lang="en-IN" altLang="en-US" dirty="0">
                <a:latin typeface="Times New Roman" panose="02020603050405020304" pitchFamily="18" charset="0"/>
              </a:rPr>
              <a:t> </a:t>
            </a:r>
          </a:p>
          <a:p>
            <a:pPr eaLnBrk="0" hangingPunct="0"/>
            <a:r>
              <a:rPr lang="en-IN" altLang="en-US" dirty="0">
                <a:latin typeface="Times New Roman" panose="02020603050405020304" pitchFamily="18" charset="0"/>
              </a:rPr>
              <a:t> </a:t>
            </a: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IN" sz="3200" b="1" dirty="0">
                <a:latin typeface="Times New Roman" panose="02020603050405020304" pitchFamily="18" charset="0"/>
                <a:cs typeface="Times New Roman" panose="02020603050405020304" pitchFamily="18" charset="0"/>
              </a:rPr>
              <a:t>Justifications for Selecting the Title</a:t>
            </a:r>
          </a:p>
        </p:txBody>
      </p:sp>
      <p:sp>
        <p:nvSpPr>
          <p:cNvPr id="3" name="Footer Placeholder 2"/>
          <p:cNvSpPr>
            <a:spLocks noGrp="1"/>
          </p:cNvSpPr>
          <p:nvPr>
            <p:ph type="ftr" sz="quarter" idx="11"/>
          </p:nvPr>
        </p:nvSpPr>
        <p:spPr>
          <a:xfrm>
            <a:off x="-1746504" y="6356350"/>
            <a:ext cx="9899904" cy="41021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192024" y="6246739"/>
            <a:ext cx="1102360" cy="409973"/>
          </a:xfrm>
          <a:prstGeom prst="rect">
            <a:avLst/>
          </a:prstGeom>
          <a:noFill/>
          <a:ln>
            <a:noFill/>
          </a:ln>
        </p:spPr>
      </p:pic>
    </p:spTree>
    <p:extLst>
      <p:ext uri="{BB962C8B-B14F-4D97-AF65-F5344CB8AC3E}">
        <p14:creationId xmlns:p14="http://schemas.microsoft.com/office/powerpoint/2010/main" val="290757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930462-2423-B6CA-8572-B255BEC71887}"/>
              </a:ext>
            </a:extLst>
          </p:cNvPr>
          <p:cNvSpPr>
            <a:spLocks noGrp="1"/>
          </p:cNvSpPr>
          <p:nvPr>
            <p:ph type="ftr" sz="quarter" idx="11"/>
          </p:nvPr>
        </p:nvSpPr>
        <p:spPr>
          <a:xfrm>
            <a:off x="1211597" y="6297357"/>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Nagpur | Pune | Jalgaon | Amravati | </a:t>
            </a:r>
            <a:r>
              <a:rPr kumimoji="0" lang="en-IN" sz="1200" b="0" i="0" u="none" strike="noStrike" kern="1200" cap="none" spc="0" normalizeH="0" baseline="0" noProof="0" dirty="0" err="1">
                <a:ln>
                  <a:noFill/>
                </a:ln>
                <a:solidFill>
                  <a:schemeClr val="tx1">
                    <a:tint val="75000"/>
                  </a:schemeClr>
                </a:solidFill>
                <a:effectLst/>
                <a:uLnTx/>
                <a:uFillTx/>
                <a:latin typeface="+mn-lt"/>
                <a:ea typeface="+mn-ea"/>
                <a:cs typeface="+mn-cs"/>
              </a:rPr>
              <a:t>Pandhurna</a:t>
            </a: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 | </a:t>
            </a:r>
            <a:r>
              <a:rPr kumimoji="0" lang="en-IN" sz="1200" b="0" i="0" u="none" strike="noStrike" kern="1200" cap="none" spc="0" normalizeH="0" baseline="0" noProof="0" dirty="0" err="1">
                <a:ln>
                  <a:noFill/>
                </a:ln>
                <a:solidFill>
                  <a:schemeClr val="tx1">
                    <a:tint val="75000"/>
                  </a:schemeClr>
                </a:solidFill>
                <a:effectLst/>
                <a:uLnTx/>
                <a:uFillTx/>
                <a:latin typeface="+mn-lt"/>
                <a:ea typeface="+mn-ea"/>
                <a:cs typeface="+mn-cs"/>
              </a:rPr>
              <a:t>Bhandara</a:t>
            </a: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  </a:t>
            </a:r>
          </a:p>
        </p:txBody>
      </p:sp>
      <p:sp>
        <p:nvSpPr>
          <p:cNvPr id="4" name="TextBox 3">
            <a:extLst>
              <a:ext uri="{FF2B5EF4-FFF2-40B4-BE49-F238E27FC236}">
                <a16:creationId xmlns:a16="http://schemas.microsoft.com/office/drawing/2014/main" id="{5907EAE3-1C91-387B-94C4-F5F214F7AE76}"/>
              </a:ext>
            </a:extLst>
          </p:cNvPr>
          <p:cNvSpPr txBox="1"/>
          <p:nvPr/>
        </p:nvSpPr>
        <p:spPr>
          <a:xfrm>
            <a:off x="0" y="0"/>
            <a:ext cx="12192000" cy="584775"/>
          </a:xfrm>
          <a:prstGeom prst="rect">
            <a:avLst/>
          </a:prstGeom>
          <a:solidFill>
            <a:srgbClr val="FF8205"/>
          </a:solidFill>
        </p:spPr>
        <p:txBody>
          <a:bodyPr wrap="square" rtlCol="0">
            <a:spAutoFit/>
          </a:bodyPr>
          <a:lstStyle/>
          <a:p>
            <a:pPr algn="ctr" eaLnBrk="1" fontAlgn="auto" hangingPunct="1">
              <a:lnSpc>
                <a:spcPct val="100000"/>
              </a:lnSpc>
              <a:spcAft>
                <a:spcPts val="0"/>
              </a:spcAft>
              <a:buClr>
                <a:schemeClr val="accent3"/>
              </a:buClr>
              <a:defRPr/>
            </a:pPr>
            <a:r>
              <a:rPr lang="en-IN" sz="3100" b="1" dirty="0">
                <a:latin typeface="Times New Roman" panose="02020603050405020304" pitchFamily="18" charset="0"/>
                <a:cs typeface="Times New Roman" panose="02020603050405020304" pitchFamily="18" charset="0"/>
              </a:rPr>
              <a:t>Objectives of the Project</a:t>
            </a:r>
            <a:endParaRPr lang="en-US" sz="31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13CC182-8968-6A20-50F8-8C909DF8F2E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6888" y="6173787"/>
            <a:ext cx="1102360" cy="409973"/>
          </a:xfrm>
          <a:prstGeom prst="rect">
            <a:avLst/>
          </a:prstGeom>
          <a:noFill/>
          <a:ln>
            <a:noFill/>
          </a:ln>
        </p:spPr>
      </p:pic>
      <p:sp>
        <p:nvSpPr>
          <p:cNvPr id="6" name="TextBox 5">
            <a:extLst>
              <a:ext uri="{FF2B5EF4-FFF2-40B4-BE49-F238E27FC236}">
                <a16:creationId xmlns:a16="http://schemas.microsoft.com/office/drawing/2014/main" id="{7736B9AD-44BE-F3C4-9D6D-FBFC207F3D67}"/>
              </a:ext>
            </a:extLst>
          </p:cNvPr>
          <p:cNvSpPr txBox="1"/>
          <p:nvPr/>
        </p:nvSpPr>
        <p:spPr>
          <a:xfrm>
            <a:off x="0" y="584776"/>
            <a:ext cx="1219200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Enhance User Experience:</a:t>
            </a:r>
          </a:p>
          <a:p>
            <a:r>
              <a:rPr lang="en-US" dirty="0"/>
              <a:t>   - Develop a user-friendly and intuitive website interface that facilitates easy navigation and seamless shopping experiences.</a:t>
            </a:r>
          </a:p>
          <a:p>
            <a:r>
              <a:rPr lang="en-US" dirty="0"/>
              <a:t>   - Implement responsive design to ensure compatibility across various devices and screen sizes.</a:t>
            </a:r>
          </a:p>
          <a:p>
            <a:pPr marL="285750" indent="-285750">
              <a:buFont typeface="Arial" panose="020B0604020202020204" pitchFamily="34" charset="0"/>
              <a:buChar char="•"/>
            </a:pPr>
            <a:r>
              <a:rPr lang="en-US" dirty="0"/>
              <a:t>Offer Diverse and High-Quality Products:</a:t>
            </a:r>
          </a:p>
          <a:p>
            <a:r>
              <a:rPr lang="en-US" dirty="0"/>
              <a:t>   - Curate a wide range of clothing and accessories that cater to diverse styles and preferences.</a:t>
            </a:r>
          </a:p>
          <a:p>
            <a:r>
              <a:rPr lang="en-US" dirty="0"/>
              <a:t>   - Partner with reputable brands and designers to ensure product quality and authenticity.</a:t>
            </a:r>
          </a:p>
          <a:p>
            <a:pPr marL="285750" indent="-285750">
              <a:buFont typeface="Arial" panose="020B0604020202020204" pitchFamily="34" charset="0"/>
              <a:buChar char="•"/>
            </a:pPr>
            <a:r>
              <a:rPr lang="en-US" dirty="0"/>
              <a:t>Build Strong Customer Relationships:</a:t>
            </a:r>
          </a:p>
          <a:p>
            <a:r>
              <a:rPr lang="en-US" dirty="0"/>
              <a:t>   - Implement effective customer service strategies, including live chat support and detailed FAQs, to assist </a:t>
            </a:r>
            <a:r>
              <a:rPr lang="en-US"/>
              <a:t>users                                         promptly</a:t>
            </a:r>
            <a:r>
              <a:rPr lang="en-US" dirty="0"/>
              <a:t>.</a:t>
            </a:r>
          </a:p>
          <a:p>
            <a:r>
              <a:rPr lang="en-US" dirty="0"/>
              <a:t>   - Foster customer loyalty through personalized offers, rewards programs, and regular engagement.</a:t>
            </a:r>
          </a:p>
          <a:p>
            <a:pPr marL="285750" indent="-285750">
              <a:buFont typeface="Arial" panose="020B0604020202020204" pitchFamily="34" charset="0"/>
              <a:buChar char="•"/>
            </a:pPr>
            <a:r>
              <a:rPr lang="en-US" dirty="0"/>
              <a:t>Ensure Operational Efficiency:</a:t>
            </a:r>
          </a:p>
          <a:p>
            <a:r>
              <a:rPr lang="en-US" dirty="0"/>
              <a:t>   - Optimize inventory management and logistics to ensure timely delivery of products.</a:t>
            </a:r>
          </a:p>
          <a:p>
            <a:r>
              <a:rPr lang="en-US" dirty="0"/>
              <a:t>   - Implement data analytics to monitor and improve operational performance continually.</a:t>
            </a:r>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1580832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Expected Result</a:t>
            </a:r>
          </a:p>
        </p:txBody>
      </p:sp>
      <p:sp>
        <p:nvSpPr>
          <p:cNvPr id="3" name="Footer Placeholder 2"/>
          <p:cNvSpPr>
            <a:spLocks noGrp="1"/>
          </p:cNvSpPr>
          <p:nvPr>
            <p:ph type="ftr" sz="quarter" idx="11"/>
          </p:nvPr>
        </p:nvSpPr>
        <p:spPr>
          <a:xfrm>
            <a:off x="-1545336" y="6045200"/>
            <a:ext cx="9698736" cy="895096"/>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246888" y="6173787"/>
            <a:ext cx="1102360" cy="409973"/>
          </a:xfrm>
          <a:prstGeom prst="rect">
            <a:avLst/>
          </a:prstGeom>
          <a:noFill/>
          <a:ln>
            <a:noFill/>
          </a:ln>
        </p:spPr>
      </p:pic>
      <p:pic>
        <p:nvPicPr>
          <p:cNvPr id="11" name="Picture 10">
            <a:extLst>
              <a:ext uri="{FF2B5EF4-FFF2-40B4-BE49-F238E27FC236}">
                <a16:creationId xmlns:a16="http://schemas.microsoft.com/office/drawing/2014/main" id="{1DD00F45-90F1-1368-8F43-859C927FD4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1101"/>
            <a:ext cx="6096001" cy="2797900"/>
          </a:xfrm>
          <a:prstGeom prst="rect">
            <a:avLst/>
          </a:prstGeom>
        </p:spPr>
      </p:pic>
      <p:pic>
        <p:nvPicPr>
          <p:cNvPr id="14" name="Picture 13">
            <a:extLst>
              <a:ext uri="{FF2B5EF4-FFF2-40B4-BE49-F238E27FC236}">
                <a16:creationId xmlns:a16="http://schemas.microsoft.com/office/drawing/2014/main" id="{59C362BC-48F6-9C2F-AE0C-FB694D5A9D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45048" y="3452192"/>
            <a:ext cx="6096002" cy="2460357"/>
          </a:xfrm>
          <a:prstGeom prst="rect">
            <a:avLst/>
          </a:prstGeom>
        </p:spPr>
      </p:pic>
      <p:pic>
        <p:nvPicPr>
          <p:cNvPr id="16" name="Picture 15">
            <a:extLst>
              <a:ext uri="{FF2B5EF4-FFF2-40B4-BE49-F238E27FC236}">
                <a16:creationId xmlns:a16="http://schemas.microsoft.com/office/drawing/2014/main" id="{CA1AAE23-B5D9-1FB2-2213-519FD45B4CF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428998"/>
            <a:ext cx="6096004" cy="2151152"/>
          </a:xfrm>
          <a:prstGeom prst="rect">
            <a:avLst/>
          </a:prstGeom>
        </p:spPr>
      </p:pic>
      <p:pic>
        <p:nvPicPr>
          <p:cNvPr id="18" name="Picture 17">
            <a:extLst>
              <a:ext uri="{FF2B5EF4-FFF2-40B4-BE49-F238E27FC236}">
                <a16:creationId xmlns:a16="http://schemas.microsoft.com/office/drawing/2014/main" id="{1F45E026-B406-29D4-5781-041FA16ED5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45048" y="654292"/>
            <a:ext cx="6146951" cy="2797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1266" name="Title 1"/>
          <p:cNvSpPr txBox="1"/>
          <p:nvPr/>
        </p:nvSpPr>
        <p:spPr>
          <a:xfrm>
            <a:off x="2293938" y="205422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graphicFrame>
        <p:nvGraphicFramePr>
          <p:cNvPr id="10244" name="Table 10243"/>
          <p:cNvGraphicFramePr/>
          <p:nvPr>
            <p:extLst>
              <p:ext uri="{D42A27DB-BD31-4B8C-83A1-F6EECF244321}">
                <p14:modId xmlns:p14="http://schemas.microsoft.com/office/powerpoint/2010/main" val="17514170"/>
              </p:ext>
            </p:extLst>
          </p:nvPr>
        </p:nvGraphicFramePr>
        <p:xfrm>
          <a:off x="1" y="639763"/>
          <a:ext cx="12191999" cy="4945797"/>
        </p:xfrm>
        <a:graphic>
          <a:graphicData uri="http://schemas.openxmlformats.org/drawingml/2006/table">
            <a:tbl>
              <a:tblPr/>
              <a:tblGrid>
                <a:gridCol w="4921687">
                  <a:extLst>
                    <a:ext uri="{9D8B030D-6E8A-4147-A177-3AD203B41FA5}">
                      <a16:colId xmlns:a16="http://schemas.microsoft.com/office/drawing/2014/main" val="20000"/>
                    </a:ext>
                  </a:extLst>
                </a:gridCol>
                <a:gridCol w="1416850">
                  <a:extLst>
                    <a:ext uri="{9D8B030D-6E8A-4147-A177-3AD203B41FA5}">
                      <a16:colId xmlns:a16="http://schemas.microsoft.com/office/drawing/2014/main" val="20001"/>
                    </a:ext>
                  </a:extLst>
                </a:gridCol>
                <a:gridCol w="1555132">
                  <a:extLst>
                    <a:ext uri="{9D8B030D-6E8A-4147-A177-3AD203B41FA5}">
                      <a16:colId xmlns:a16="http://schemas.microsoft.com/office/drawing/2014/main" val="20002"/>
                    </a:ext>
                  </a:extLst>
                </a:gridCol>
                <a:gridCol w="1495764">
                  <a:extLst>
                    <a:ext uri="{9D8B030D-6E8A-4147-A177-3AD203B41FA5}">
                      <a16:colId xmlns:a16="http://schemas.microsoft.com/office/drawing/2014/main" val="20003"/>
                    </a:ext>
                  </a:extLst>
                </a:gridCol>
                <a:gridCol w="1470424">
                  <a:extLst>
                    <a:ext uri="{9D8B030D-6E8A-4147-A177-3AD203B41FA5}">
                      <a16:colId xmlns:a16="http://schemas.microsoft.com/office/drawing/2014/main" val="20004"/>
                    </a:ext>
                  </a:extLst>
                </a:gridCol>
                <a:gridCol w="1332142">
                  <a:extLst>
                    <a:ext uri="{9D8B030D-6E8A-4147-A177-3AD203B41FA5}">
                      <a16:colId xmlns:a16="http://schemas.microsoft.com/office/drawing/2014/main" val="20005"/>
                    </a:ext>
                  </a:extLst>
                </a:gridCol>
              </a:tblGrid>
              <a:tr h="50355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1600" b="1" dirty="0">
                          <a:latin typeface="Times New Roman" panose="02020603050405020304" pitchFamily="18" charset="0"/>
                          <a:cs typeface="Times New Roman" panose="02020603050405020304" pitchFamily="18" charset="0"/>
                        </a:rPr>
                        <a:t> Months  Activities</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Times New Roman" panose="02020603050405020304" pitchFamily="18" charset="0"/>
                          <a:cs typeface="Times New Roman" panose="02020603050405020304" pitchFamily="18" charset="0"/>
                        </a:rPr>
                        <a:t>JUL</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24</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IN" sz="1600" b="1" dirty="0">
                          <a:latin typeface="Times New Roman" panose="02020603050405020304" pitchFamily="18" charset="0"/>
                          <a:cs typeface="Times New Roman" panose="02020603050405020304" pitchFamily="18" charset="0"/>
                        </a:rPr>
                        <a:t>AUG</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24</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Times New Roman" panose="02020603050405020304" pitchFamily="18" charset="0"/>
                          <a:cs typeface="Times New Roman" panose="02020603050405020304" pitchFamily="18" charset="0"/>
                        </a:rPr>
                        <a:t>SEPT</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24</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Times New Roman" panose="02020603050405020304" pitchFamily="18" charset="0"/>
                          <a:cs typeface="Times New Roman" panose="02020603050405020304" pitchFamily="18" charset="0"/>
                        </a:rPr>
                        <a:t>OCT</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24</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Times New Roman" panose="02020603050405020304" pitchFamily="18" charset="0"/>
                          <a:cs typeface="Times New Roman" panose="02020603050405020304" pitchFamily="18" charset="0"/>
                        </a:rPr>
                        <a:t>NOV</a:t>
                      </a:r>
                      <a:r>
                        <a:rPr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24</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57787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latin typeface="Times New Roman" panose="02020603050405020304" pitchFamily="18" charset="0"/>
                          <a:cs typeface="Times New Roman" panose="02020603050405020304" pitchFamily="18" charset="0"/>
                        </a:rPr>
                        <a:t>Literature Reviews</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1"/>
                  </a:ext>
                </a:extLst>
              </a:tr>
              <a:tr h="57311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latin typeface="Times New Roman" panose="02020603050405020304" pitchFamily="18" charset="0"/>
                          <a:cs typeface="Times New Roman" panose="02020603050405020304" pitchFamily="18" charset="0"/>
                        </a:rPr>
                        <a:t>Component Identification &amp; Selection</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2"/>
                  </a:ext>
                </a:extLst>
              </a:tr>
              <a:tr h="54695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latin typeface="Times New Roman" panose="02020603050405020304" pitchFamily="18" charset="0"/>
                          <a:cs typeface="Times New Roman" panose="02020603050405020304" pitchFamily="18" charset="0"/>
                        </a:rPr>
                        <a:t>Designing</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3"/>
                  </a:ext>
                </a:extLst>
              </a:tr>
              <a:tr h="5487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lang="en-IN" sz="1600" b="1" dirty="0">
                          <a:latin typeface="Times New Roman" panose="02020603050405020304" pitchFamily="18" charset="0"/>
                          <a:cs typeface="Times New Roman" panose="02020603050405020304" pitchFamily="18" charset="0"/>
                        </a:rPr>
                        <a:t>Fabrication</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4"/>
                  </a:ext>
                </a:extLst>
              </a:tr>
              <a:tr h="54933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l" defTabSz="914400" rtl="0" eaLnBrk="1" fontAlgn="base" latinLnBrk="0" hangingPunct="1">
                        <a:lnSpc>
                          <a:spcPct val="115000"/>
                        </a:lnSpc>
                        <a:spcBef>
                          <a:spcPct val="0"/>
                        </a:spcBef>
                        <a:spcAft>
                          <a:spcPct val="0"/>
                        </a:spcAft>
                        <a:buClrTx/>
                        <a:buSzTx/>
                        <a:buFontTx/>
                        <a:buNone/>
                        <a:tabLst/>
                        <a:defRPr/>
                      </a:pPr>
                      <a:r>
                        <a:rPr lang="en-IN" sz="1600" b="1" dirty="0">
                          <a:latin typeface="Times New Roman" panose="02020603050405020304" pitchFamily="18" charset="0"/>
                          <a:cs typeface="Times New Roman" panose="02020603050405020304" pitchFamily="18" charset="0"/>
                        </a:rPr>
                        <a:t>Experimental Analysis</a:t>
                      </a:r>
                      <a:endParaRPr lang="en-IN"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5"/>
                  </a:ext>
                </a:extLst>
              </a:tr>
              <a:tr h="5487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latin typeface="Times New Roman" panose="02020603050405020304" pitchFamily="18" charset="0"/>
                          <a:cs typeface="Times New Roman" panose="02020603050405020304" pitchFamily="18" charset="0"/>
                        </a:rPr>
                        <a:t>Testing and Debugging</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6"/>
                  </a:ext>
                </a:extLst>
              </a:tr>
              <a:tr h="5487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1600" b="1" dirty="0">
                          <a:latin typeface="Times New Roman" panose="02020603050405020304" pitchFamily="18" charset="0"/>
                          <a:cs typeface="Times New Roman" panose="02020603050405020304" pitchFamily="18" charset="0"/>
                        </a:rPr>
                        <a:t>Preparation of Project Report</a:t>
                      </a:r>
                      <a:endParaRPr lang="en-US" sz="16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dirty="0">
                        <a:latin typeface="Times New Roman" panose="02020603050405020304" pitchFamily="18" charset="0"/>
                        <a:cs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7"/>
                  </a:ext>
                </a:extLst>
              </a:tr>
              <a:tr h="548740">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600" b="1" dirty="0">
                          <a:latin typeface="Times New Roman" panose="02020603050405020304" pitchFamily="18" charset="0"/>
                          <a:ea typeface="Times New Roman" panose="02020603050405020304" pitchFamily="18" charset="0"/>
                        </a:rPr>
                        <a:t>Thesis and Poster Submission </a:t>
                      </a:r>
                    </a:p>
                  </a:txBody>
                  <a:tcPr marL="68587" marR="68587" marT="0"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solidFill>
                  </a:tcP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IN"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ea typeface="Times New Roman" panose="02020603050405020304" pitchFamily="18" charset="0"/>
                      </a:endParaRPr>
                    </a:p>
                  </a:txBody>
                  <a:tcPr marL="68587" marR="68587" marT="0"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8"/>
                  </a:ext>
                </a:extLst>
              </a:tr>
            </a:tbl>
          </a:graphicData>
        </a:graphic>
      </p:graphicFrame>
      <p:sp>
        <p:nvSpPr>
          <p:cNvPr id="14"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Work – Plan </a:t>
            </a:r>
          </a:p>
        </p:txBody>
      </p:sp>
      <p:sp>
        <p:nvSpPr>
          <p:cNvPr id="3" name="Footer Placeholder 2"/>
          <p:cNvSpPr>
            <a:spLocks noGrp="1"/>
          </p:cNvSpPr>
          <p:nvPr>
            <p:ph type="ftr" sz="quarter" idx="11"/>
          </p:nvPr>
        </p:nvSpPr>
        <p:spPr>
          <a:xfrm>
            <a:off x="-1353312" y="6220778"/>
            <a:ext cx="9506712" cy="637222"/>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310896" y="6220777"/>
            <a:ext cx="1102360" cy="4099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2290" name="TextBox 7"/>
          <p:cNvSpPr txBox="1"/>
          <p:nvPr/>
        </p:nvSpPr>
        <p:spPr>
          <a:xfrm>
            <a:off x="514985" y="831533"/>
            <a:ext cx="7159625" cy="369887"/>
          </a:xfrm>
          <a:prstGeom prst="rect">
            <a:avLst/>
          </a:prstGeom>
          <a:noFill/>
          <a:ln w="9525">
            <a:noFill/>
          </a:ln>
        </p:spPr>
        <p:txBody>
          <a:bodyPr anchor="t" anchorCtr="0">
            <a:spAutoFit/>
          </a:bodyPr>
          <a:lstStyle/>
          <a:p>
            <a:pPr eaLnBrk="0" hangingPunct="0"/>
            <a:r>
              <a:rPr lang="en-US" altLang="en-US" dirty="0">
                <a:latin typeface="Times New Roman" panose="02020603050405020304" pitchFamily="18" charset="0"/>
              </a:rPr>
              <a:t>List of papers/books/websites etc refer for project</a:t>
            </a:r>
            <a:endParaRPr lang="en-US" altLang="en-US" dirty="0">
              <a:latin typeface="Times New Roman" panose="02020603050405020304" pitchFamily="18" charset="0"/>
              <a:ea typeface="Times New Roman" panose="02020603050405020304" pitchFamily="18" charset="0"/>
            </a:endParaRP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References</a:t>
            </a:r>
          </a:p>
        </p:txBody>
      </p:sp>
      <p:sp>
        <p:nvSpPr>
          <p:cNvPr id="2" name="Rectangle 1"/>
          <p:cNvSpPr/>
          <p:nvPr/>
        </p:nvSpPr>
        <p:spPr>
          <a:xfrm>
            <a:off x="514985" y="1389986"/>
            <a:ext cx="11145203" cy="954107"/>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Journals</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Gomez-Uribe, C. A., &amp; Hunt, N. (2016). The Netflix Recommender System: Algorithms, Business Value, and Innovation. ACM Transactions on Management Information Systems, 6(4): 13. DOI: 10.1145/2843948.</a:t>
            </a:r>
          </a:p>
        </p:txBody>
      </p:sp>
      <p:sp>
        <p:nvSpPr>
          <p:cNvPr id="3" name="Rectangle 2"/>
          <p:cNvSpPr/>
          <p:nvPr/>
        </p:nvSpPr>
        <p:spPr>
          <a:xfrm>
            <a:off x="514984" y="2617262"/>
            <a:ext cx="10244455" cy="646331"/>
          </a:xfrm>
          <a:prstGeom prst="rect">
            <a:avLst/>
          </a:prstGeom>
        </p:spPr>
        <p:txBody>
          <a:bodyPr wrap="square">
            <a:spAutoFit/>
          </a:bodyPr>
          <a:lstStyle/>
          <a:p>
            <a:r>
              <a:rPr lang="en-IN" b="1" dirty="0">
                <a:latin typeface="Times New Roman" panose="02020603050405020304" pitchFamily="18" charset="0"/>
              </a:rPr>
              <a:t>Text books</a:t>
            </a:r>
          </a:p>
          <a:p>
            <a:pPr marL="342900" indent="-342900">
              <a:buFont typeface="+mj-lt"/>
              <a:buAutoNum type="arabicPeriod"/>
            </a:pPr>
            <a:r>
              <a:rPr lang="en-US" dirty="0">
                <a:latin typeface="Times New Roman" panose="02020603050405020304" pitchFamily="18" charset="0"/>
              </a:rPr>
              <a:t>Duckett, J. (2011). HTML and CSS: Design and Build Websites. Wiley Publishing, Inc.</a:t>
            </a:r>
            <a:r>
              <a:rPr lang="en-IN" dirty="0">
                <a:latin typeface="Times New Roman" panose="02020603050405020304" pitchFamily="18" charset="0"/>
              </a:rPr>
              <a:t>.</a:t>
            </a:r>
            <a:endParaRPr lang="en-IN" dirty="0"/>
          </a:p>
        </p:txBody>
      </p:sp>
      <p:sp>
        <p:nvSpPr>
          <p:cNvPr id="5" name="Rectangle 4"/>
          <p:cNvSpPr/>
          <p:nvPr/>
        </p:nvSpPr>
        <p:spPr>
          <a:xfrm>
            <a:off x="514984" y="3581108"/>
            <a:ext cx="11265536" cy="954107"/>
          </a:xfrm>
          <a:prstGeom prst="rect">
            <a:avLst/>
          </a:prstGeom>
        </p:spPr>
        <p:txBody>
          <a:bodyPr wrap="square">
            <a:spAutoFit/>
          </a:bodyPr>
          <a:lstStyle/>
          <a:p>
            <a:pPr algn="just"/>
            <a:r>
              <a:rPr lang="en-IN" b="1" dirty="0">
                <a:latin typeface="Times New Roman" panose="02020603050405020304" pitchFamily="18" charset="0"/>
              </a:rPr>
              <a:t>Conference proceedings</a:t>
            </a:r>
          </a:p>
          <a:p>
            <a:pPr marL="342900" indent="-342900" algn="just">
              <a:buFont typeface="+mj-lt"/>
              <a:buAutoNum type="arabicPeriod"/>
            </a:pPr>
            <a:r>
              <a:rPr lang="en-US" dirty="0">
                <a:latin typeface="Times New Roman" panose="02020603050405020304" pitchFamily="18" charset="0"/>
              </a:rPr>
              <a:t>Doe, J. (2021). E-commerce Security: Best Practices for Protecting Online Transactions. In Proceedings of the International Conference on E-commerce and Security.</a:t>
            </a:r>
          </a:p>
        </p:txBody>
      </p:sp>
      <p:sp>
        <p:nvSpPr>
          <p:cNvPr id="10" name="Rectangle 9"/>
          <p:cNvSpPr/>
          <p:nvPr/>
        </p:nvSpPr>
        <p:spPr>
          <a:xfrm>
            <a:off x="514984" y="4819968"/>
            <a:ext cx="11463655" cy="646331"/>
          </a:xfrm>
          <a:prstGeom prst="rect">
            <a:avLst/>
          </a:prstGeom>
        </p:spPr>
        <p:txBody>
          <a:bodyPr wrap="square">
            <a:spAutoFit/>
          </a:bodyPr>
          <a:lstStyle/>
          <a:p>
            <a:pPr algn="just"/>
            <a:r>
              <a:rPr lang="en-IN" b="1" dirty="0">
                <a:latin typeface="Times New Roman" panose="02020603050405020304" pitchFamily="18" charset="0"/>
              </a:rPr>
              <a:t>Reports</a:t>
            </a:r>
          </a:p>
          <a:p>
            <a:pPr marL="342900" indent="-342900" algn="just">
              <a:buFont typeface="+mj-lt"/>
              <a:buAutoNum type="arabicPeriod"/>
            </a:pPr>
            <a:r>
              <a:rPr lang="en-US" dirty="0">
                <a:latin typeface="Times New Roman" panose="02020603050405020304" pitchFamily="18" charset="0"/>
              </a:rPr>
              <a:t>Chaffey, D. (2020). E-commerce 2020: Trends and Strategies. Smart Insights.</a:t>
            </a:r>
          </a:p>
        </p:txBody>
      </p:sp>
      <p:sp>
        <p:nvSpPr>
          <p:cNvPr id="6" name="Footer Placeholder 5"/>
          <p:cNvSpPr>
            <a:spLocks noGrp="1"/>
          </p:cNvSpPr>
          <p:nvPr>
            <p:ph type="ftr" sz="quarter" idx="11"/>
          </p:nvPr>
        </p:nvSpPr>
        <p:spPr>
          <a:xfrm>
            <a:off x="-1179576" y="6204938"/>
            <a:ext cx="9332976" cy="653062"/>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12" name="Picture 11"/>
          <p:cNvPicPr/>
          <p:nvPr/>
        </p:nvPicPr>
        <p:blipFill>
          <a:blip r:embed="rId2">
            <a:extLst>
              <a:ext uri="{28A0092B-C50C-407E-A947-70E740481C1C}">
                <a14:useLocalDpi xmlns:a14="http://schemas.microsoft.com/office/drawing/2010/main" val="0"/>
              </a:ext>
            </a:extLst>
          </a:blip>
          <a:srcRect/>
          <a:stretch>
            <a:fillRect/>
          </a:stretch>
        </p:blipFill>
        <p:spPr bwMode="auto">
          <a:xfrm>
            <a:off x="393192" y="6204938"/>
            <a:ext cx="1102360" cy="4099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2290" name="TextBox 7"/>
          <p:cNvSpPr txBox="1"/>
          <p:nvPr/>
        </p:nvSpPr>
        <p:spPr>
          <a:xfrm>
            <a:off x="514985" y="831533"/>
            <a:ext cx="7159625" cy="369887"/>
          </a:xfrm>
          <a:prstGeom prst="rect">
            <a:avLst/>
          </a:prstGeom>
          <a:noFill/>
          <a:ln w="9525">
            <a:noFill/>
          </a:ln>
        </p:spPr>
        <p:txBody>
          <a:bodyPr anchor="t" anchorCtr="0">
            <a:spAutoFit/>
          </a:bodyPr>
          <a:lstStyle/>
          <a:p>
            <a:pPr eaLnBrk="0" hangingPunct="0"/>
            <a:r>
              <a:rPr lang="en-US" altLang="en-US" dirty="0">
                <a:latin typeface="Times New Roman" panose="02020603050405020304" pitchFamily="18" charset="0"/>
              </a:rPr>
              <a:t>List of papers/books/websites etc refer for project</a:t>
            </a:r>
            <a:endParaRPr lang="en-US" altLang="en-US" dirty="0">
              <a:latin typeface="Times New Roman" panose="02020603050405020304" pitchFamily="18" charset="0"/>
              <a:ea typeface="Times New Roman" panose="02020603050405020304" pitchFamily="18" charset="0"/>
            </a:endParaRP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References</a:t>
            </a:r>
          </a:p>
        </p:txBody>
      </p:sp>
      <p:sp>
        <p:nvSpPr>
          <p:cNvPr id="6" name="Rectangle 5"/>
          <p:cNvSpPr/>
          <p:nvPr/>
        </p:nvSpPr>
        <p:spPr>
          <a:xfrm>
            <a:off x="514982" y="1393190"/>
            <a:ext cx="11463655" cy="954107"/>
          </a:xfrm>
          <a:prstGeom prst="rect">
            <a:avLst/>
          </a:prstGeom>
        </p:spPr>
        <p:txBody>
          <a:bodyPr wrap="square">
            <a:spAutoFit/>
          </a:bodyPr>
          <a:lstStyle/>
          <a:p>
            <a:pPr algn="just"/>
            <a:r>
              <a:rPr lang="en-IN" b="1" dirty="0">
                <a:latin typeface="Times New Roman" panose="02020603050405020304" pitchFamily="18" charset="0"/>
              </a:rPr>
              <a:t>Online journals with a DOI (Digital Object Identifier)</a:t>
            </a:r>
          </a:p>
          <a:p>
            <a:pPr marL="342900" indent="-342900" algn="just">
              <a:buFont typeface="+mj-lt"/>
              <a:buAutoNum type="arabicPeriod"/>
            </a:pPr>
            <a:r>
              <a:rPr lang="en-US" dirty="0">
                <a:latin typeface="Times New Roman" panose="02020603050405020304" pitchFamily="18" charset="0"/>
              </a:rPr>
              <a:t>Aggarwal, C. C. (2016). Recommender Systems: The Textbook. Journal of Machine Learning Research, 17(1): 493-498. DOI: 10.1145/2909992.</a:t>
            </a:r>
          </a:p>
        </p:txBody>
      </p:sp>
      <p:sp>
        <p:nvSpPr>
          <p:cNvPr id="7" name="Rectangle 6"/>
          <p:cNvSpPr/>
          <p:nvPr/>
        </p:nvSpPr>
        <p:spPr>
          <a:xfrm>
            <a:off x="514982" y="2719984"/>
            <a:ext cx="11463655" cy="954107"/>
          </a:xfrm>
          <a:prstGeom prst="rect">
            <a:avLst/>
          </a:prstGeom>
        </p:spPr>
        <p:txBody>
          <a:bodyPr wrap="square">
            <a:spAutoFit/>
          </a:bodyPr>
          <a:lstStyle/>
          <a:p>
            <a:r>
              <a:rPr lang="en-IN" b="1" dirty="0">
                <a:solidFill>
                  <a:srgbClr val="000000"/>
                </a:solidFill>
                <a:latin typeface="Times New Roman" panose="02020603050405020304" pitchFamily="18" charset="0"/>
              </a:rPr>
              <a:t>Online journals without a DOI</a:t>
            </a:r>
          </a:p>
          <a:p>
            <a:pPr marL="342900" indent="-342900">
              <a:buFont typeface="+mj-lt"/>
              <a:buAutoNum type="arabicPeriod"/>
            </a:pPr>
            <a:r>
              <a:rPr lang="en-IN" dirty="0">
                <a:solidFill>
                  <a:srgbClr val="000000"/>
                </a:solidFill>
                <a:latin typeface="Times New Roman" panose="02020603050405020304" pitchFamily="18" charset="0"/>
              </a:rPr>
              <a:t>Ryan, D. (2016). Understanding Digital Marketing: Marketing Strategies for Engaging the Digital Generation. Digital Marketing Magazine.</a:t>
            </a:r>
            <a:endParaRPr lang="en-IN" dirty="0"/>
          </a:p>
        </p:txBody>
      </p:sp>
      <p:sp>
        <p:nvSpPr>
          <p:cNvPr id="8" name="Rectangle 7"/>
          <p:cNvSpPr/>
          <p:nvPr/>
        </p:nvSpPr>
        <p:spPr>
          <a:xfrm>
            <a:off x="514981" y="4025525"/>
            <a:ext cx="11463655" cy="923330"/>
          </a:xfrm>
          <a:prstGeom prst="rect">
            <a:avLst/>
          </a:prstGeom>
        </p:spPr>
        <p:txBody>
          <a:bodyPr wrap="square">
            <a:spAutoFit/>
          </a:bodyPr>
          <a:lstStyle/>
          <a:p>
            <a:pPr algn="just"/>
            <a:r>
              <a:rPr lang="en-IN" b="1" dirty="0">
                <a:solidFill>
                  <a:srgbClr val="000000"/>
                </a:solidFill>
                <a:latin typeface="Times New Roman" panose="02020603050405020304" pitchFamily="18" charset="0"/>
              </a:rPr>
              <a:t>Online abstracts</a:t>
            </a:r>
          </a:p>
          <a:p>
            <a:pPr marL="342900" indent="-342900" algn="just">
              <a:buFont typeface="+mj-lt"/>
              <a:buAutoNum type="arabicPeriod"/>
            </a:pPr>
            <a:r>
              <a:rPr lang="en-US" dirty="0">
                <a:solidFill>
                  <a:srgbClr val="000000"/>
                </a:solidFill>
                <a:latin typeface="Times New Roman" panose="02020603050405020304" pitchFamily="18" charset="0"/>
              </a:rPr>
              <a:t>Marcotte, E. (2014). Responsive Web Design. Abstract on A Book Apart. [A Book Apart] </a:t>
            </a:r>
            <a:r>
              <a:rPr lang="en-US" dirty="0">
                <a:solidFill>
                  <a:schemeClr val="tx1">
                    <a:lumMod val="95000"/>
                    <a:lumOff val="5000"/>
                  </a:schemeClr>
                </a:solidFill>
                <a:latin typeface="Times New Roman" panose="02020603050405020304" pitchFamily="18" charset="0"/>
              </a:rPr>
              <a:t>https://abookapart.com/products/responsive-web-design</a:t>
            </a:r>
          </a:p>
        </p:txBody>
      </p:sp>
      <p:sp>
        <p:nvSpPr>
          <p:cNvPr id="3" name="Footer Placeholder 2"/>
          <p:cNvSpPr>
            <a:spLocks noGrp="1"/>
          </p:cNvSpPr>
          <p:nvPr>
            <p:ph type="ftr" sz="quarter" idx="11"/>
          </p:nvPr>
        </p:nvSpPr>
        <p:spPr>
          <a:xfrm>
            <a:off x="-1316736" y="6300216"/>
            <a:ext cx="9470136" cy="42125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292608" y="6217110"/>
            <a:ext cx="1102360" cy="409973"/>
          </a:xfrm>
          <a:prstGeom prst="rect">
            <a:avLst/>
          </a:prstGeom>
          <a:noFill/>
          <a:ln>
            <a:noFill/>
          </a:ln>
        </p:spPr>
      </p:pic>
    </p:spTree>
    <p:extLst>
      <p:ext uri="{BB962C8B-B14F-4D97-AF65-F5344CB8AC3E}">
        <p14:creationId xmlns:p14="http://schemas.microsoft.com/office/powerpoint/2010/main" val="324466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2290" name="TextBox 7"/>
          <p:cNvSpPr txBox="1"/>
          <p:nvPr/>
        </p:nvSpPr>
        <p:spPr>
          <a:xfrm>
            <a:off x="514985" y="831533"/>
            <a:ext cx="7159625" cy="369887"/>
          </a:xfrm>
          <a:prstGeom prst="rect">
            <a:avLst/>
          </a:prstGeom>
          <a:noFill/>
          <a:ln w="9525">
            <a:noFill/>
          </a:ln>
        </p:spPr>
        <p:txBody>
          <a:bodyPr anchor="t" anchorCtr="0">
            <a:spAutoFit/>
          </a:bodyPr>
          <a:lstStyle/>
          <a:p>
            <a:pPr eaLnBrk="0" hangingPunct="0"/>
            <a:r>
              <a:rPr lang="en-US" altLang="en-US" dirty="0">
                <a:latin typeface="Times New Roman" panose="02020603050405020304" pitchFamily="18" charset="0"/>
              </a:rPr>
              <a:t>List of papers/books/websites etc refer for project</a:t>
            </a:r>
            <a:endParaRPr lang="en-US" altLang="en-US" dirty="0">
              <a:latin typeface="Times New Roman" panose="02020603050405020304" pitchFamily="18" charset="0"/>
              <a:ea typeface="Times New Roman" panose="02020603050405020304" pitchFamily="18" charset="0"/>
            </a:endParaRPr>
          </a:p>
        </p:txBody>
      </p:sp>
      <p:sp>
        <p:nvSpPr>
          <p:cNvPr id="13" name="Title 1"/>
          <p:cNvSpPr txBox="1"/>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References</a:t>
            </a:r>
          </a:p>
        </p:txBody>
      </p:sp>
      <p:sp>
        <p:nvSpPr>
          <p:cNvPr id="2" name="Rectangle 1"/>
          <p:cNvSpPr/>
          <p:nvPr/>
        </p:nvSpPr>
        <p:spPr>
          <a:xfrm>
            <a:off x="514984" y="1393190"/>
            <a:ext cx="11174093" cy="923330"/>
          </a:xfrm>
          <a:prstGeom prst="rect">
            <a:avLst/>
          </a:prstGeom>
        </p:spPr>
        <p:txBody>
          <a:bodyPr wrap="square">
            <a:spAutoFit/>
          </a:bodyPr>
          <a:lstStyle/>
          <a:p>
            <a:pPr algn="just"/>
            <a:r>
              <a:rPr lang="en-IN" b="1" dirty="0">
                <a:solidFill>
                  <a:srgbClr val="000000"/>
                </a:solidFill>
                <a:latin typeface="Times New Roman" panose="02020603050405020304" pitchFamily="18" charset="0"/>
              </a:rPr>
              <a:t>Online books</a:t>
            </a:r>
          </a:p>
          <a:p>
            <a:pPr marL="342900" indent="-342900" algn="just">
              <a:buFont typeface="+mj-lt"/>
              <a:buAutoNum type="arabicPeriod"/>
            </a:pPr>
            <a:r>
              <a:rPr lang="en-US" dirty="0" err="1">
                <a:solidFill>
                  <a:srgbClr val="000000"/>
                </a:solidFill>
                <a:latin typeface="Times New Roman" panose="02020603050405020304" pitchFamily="18" charset="0"/>
              </a:rPr>
              <a:t>Firtman</a:t>
            </a:r>
            <a:r>
              <a:rPr lang="en-US" dirty="0">
                <a:solidFill>
                  <a:srgbClr val="000000"/>
                </a:solidFill>
                <a:latin typeface="Times New Roman" panose="02020603050405020304" pitchFamily="18" charset="0"/>
              </a:rPr>
              <a:t>, M. (2016). High Performance Mobile Web: Best Practices for Optimizing Mobile Web Apps. O'Reilly Media. [O'Reilly](https://www.oreilly.com/library/view/high-performance-mobile/9781491912553/).</a:t>
            </a:r>
            <a:endParaRPr lang="en-IN" dirty="0"/>
          </a:p>
        </p:txBody>
      </p:sp>
      <p:sp>
        <p:nvSpPr>
          <p:cNvPr id="3" name="Rectangle 2"/>
          <p:cNvSpPr/>
          <p:nvPr/>
        </p:nvSpPr>
        <p:spPr>
          <a:xfrm>
            <a:off x="514984" y="2508290"/>
            <a:ext cx="11174095" cy="923330"/>
          </a:xfrm>
          <a:prstGeom prst="rect">
            <a:avLst/>
          </a:prstGeom>
        </p:spPr>
        <p:txBody>
          <a:bodyPr wrap="square">
            <a:spAutoFit/>
          </a:bodyPr>
          <a:lstStyle/>
          <a:p>
            <a:pPr algn="just"/>
            <a:r>
              <a:rPr lang="en-IN" b="1" dirty="0">
                <a:latin typeface="Times New Roman" panose="02020603050405020304" pitchFamily="18" charset="0"/>
              </a:rPr>
              <a:t>Chapters from a book</a:t>
            </a:r>
          </a:p>
          <a:p>
            <a:pPr marL="342900" indent="-342900" algn="just">
              <a:buFont typeface="+mj-lt"/>
              <a:buAutoNum type="arabicPeriod"/>
            </a:pPr>
            <a:r>
              <a:rPr lang="en-US" dirty="0">
                <a:latin typeface="Times New Roman" panose="02020603050405020304" pitchFamily="18" charset="0"/>
              </a:rPr>
              <a:t>Chopra, S., &amp; Meindl, P. (2016). Supply Chain Management: Strategy, Planning, and Operation. In Operations Management: Processes and Supply Chains (pp. 345-376). Pearson.</a:t>
            </a:r>
          </a:p>
        </p:txBody>
      </p:sp>
      <p:sp>
        <p:nvSpPr>
          <p:cNvPr id="4" name="Rectangle 3"/>
          <p:cNvSpPr/>
          <p:nvPr/>
        </p:nvSpPr>
        <p:spPr>
          <a:xfrm>
            <a:off x="514983" y="3777278"/>
            <a:ext cx="11280776" cy="923330"/>
          </a:xfrm>
          <a:prstGeom prst="rect">
            <a:avLst/>
          </a:prstGeom>
        </p:spPr>
        <p:txBody>
          <a:bodyPr wrap="square">
            <a:spAutoFit/>
          </a:bodyPr>
          <a:lstStyle/>
          <a:p>
            <a:pPr algn="just"/>
            <a:r>
              <a:rPr lang="en-IN" b="1" dirty="0">
                <a:latin typeface="Times New Roman" panose="02020603050405020304" pitchFamily="18" charset="0"/>
              </a:rPr>
              <a:t>Books in print form</a:t>
            </a:r>
          </a:p>
          <a:p>
            <a:pPr marL="342900" indent="-342900" algn="just">
              <a:buFont typeface="+mj-lt"/>
              <a:buAutoNum type="arabicPeriod"/>
            </a:pPr>
            <a:r>
              <a:rPr lang="en-US" dirty="0">
                <a:latin typeface="Times New Roman" panose="02020603050405020304" pitchFamily="18" charset="0"/>
              </a:rPr>
              <a:t>Blanchard, K., &amp; Bowles, S. (2018). Raving Fans: A Revolutionary Approach to Customer Service. William Morrow Paperbacks.</a:t>
            </a:r>
            <a:endParaRPr lang="en-IN" dirty="0"/>
          </a:p>
        </p:txBody>
      </p:sp>
      <p:sp>
        <p:nvSpPr>
          <p:cNvPr id="5" name="Rectangle 4"/>
          <p:cNvSpPr/>
          <p:nvPr/>
        </p:nvSpPr>
        <p:spPr>
          <a:xfrm>
            <a:off x="514983" y="5046266"/>
            <a:ext cx="11174095" cy="923330"/>
          </a:xfrm>
          <a:prstGeom prst="rect">
            <a:avLst/>
          </a:prstGeom>
        </p:spPr>
        <p:txBody>
          <a:bodyPr wrap="square">
            <a:spAutoFit/>
          </a:bodyPr>
          <a:lstStyle/>
          <a:p>
            <a:r>
              <a:rPr lang="en-IN" b="1" dirty="0">
                <a:latin typeface="Times New Roman" panose="02020603050405020304" pitchFamily="18" charset="0"/>
              </a:rPr>
              <a:t>Dissertations and Thesis</a:t>
            </a:r>
          </a:p>
          <a:p>
            <a:pPr marL="342900" indent="-342900">
              <a:buFont typeface="+mj-lt"/>
              <a:buAutoNum type="arabicPeriod"/>
            </a:pPr>
            <a:r>
              <a:rPr lang="en-US" dirty="0">
                <a:latin typeface="Times New Roman" panose="02020603050405020304" pitchFamily="18" charset="0"/>
              </a:rPr>
              <a:t>Smith, J. (2019). Enhancing E-commerce Security with Blockchain Technology. Doctoral dissertation, Massachusetts Institute of Technology.</a:t>
            </a:r>
          </a:p>
        </p:txBody>
      </p:sp>
      <p:sp>
        <p:nvSpPr>
          <p:cNvPr id="7" name="Footer Placeholder 6"/>
          <p:cNvSpPr>
            <a:spLocks noGrp="1"/>
          </p:cNvSpPr>
          <p:nvPr>
            <p:ph type="ftr" sz="quarter" idx="11"/>
          </p:nvPr>
        </p:nvSpPr>
        <p:spPr>
          <a:xfrm>
            <a:off x="-1097280" y="6356350"/>
            <a:ext cx="9250680" cy="46992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12" name="Picture 11"/>
          <p:cNvPicPr/>
          <p:nvPr/>
        </p:nvPicPr>
        <p:blipFill>
          <a:blip r:embed="rId2">
            <a:extLst>
              <a:ext uri="{28A0092B-C50C-407E-A947-70E740481C1C}">
                <a14:useLocalDpi xmlns:a14="http://schemas.microsoft.com/office/drawing/2010/main" val="0"/>
              </a:ext>
            </a:extLst>
          </a:blip>
          <a:srcRect/>
          <a:stretch>
            <a:fillRect/>
          </a:stretch>
        </p:blipFill>
        <p:spPr bwMode="auto">
          <a:xfrm>
            <a:off x="420624" y="6264155"/>
            <a:ext cx="1102360" cy="409973"/>
          </a:xfrm>
          <a:prstGeom prst="rect">
            <a:avLst/>
          </a:prstGeom>
          <a:noFill/>
          <a:ln>
            <a:noFill/>
          </a:ln>
        </p:spPr>
      </p:pic>
    </p:spTree>
    <p:extLst>
      <p:ext uri="{BB962C8B-B14F-4D97-AF65-F5344CB8AC3E}">
        <p14:creationId xmlns:p14="http://schemas.microsoft.com/office/powerpoint/2010/main" val="2647613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p:cNvSpPr txBox="1"/>
          <p:nvPr/>
        </p:nvSpPr>
        <p:spPr>
          <a:xfrm>
            <a:off x="2251075" y="106997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9" name="Rectangle 8"/>
          <p:cNvSpPr/>
          <p:nvPr/>
        </p:nvSpPr>
        <p:spPr>
          <a:xfrm>
            <a:off x="1766888" y="1978025"/>
            <a:ext cx="8207375" cy="1862138"/>
          </a:xfrm>
          <a:prstGeom prst="rect">
            <a:avLst/>
          </a:prstGeom>
        </p:spPr>
        <p:txBody>
          <a:bodyPr>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rPr>
              <a:t>Thank you !</a:t>
            </a:r>
            <a:endParaRPr kumimoji="0" lang="en-IN"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a typeface="+mn-ea"/>
              <a:cs typeface="+mn-cs"/>
            </a:endParaRPr>
          </a:p>
        </p:txBody>
      </p:sp>
      <p:sp>
        <p:nvSpPr>
          <p:cNvPr id="3" name="Footer Placeholder 2"/>
          <p:cNvSpPr>
            <a:spLocks noGrp="1"/>
          </p:cNvSpPr>
          <p:nvPr>
            <p:ph type="ftr" sz="quarter" idx="11"/>
          </p:nvPr>
        </p:nvSpPr>
        <p:spPr>
          <a:xfrm>
            <a:off x="-1536192" y="6318504"/>
            <a:ext cx="9689592" cy="402971"/>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rgbClr val="002060"/>
                </a:solidFill>
                <a:effectLst/>
                <a:uLnTx/>
                <a:uFillTx/>
                <a:latin typeface="+mn-lt"/>
                <a:ea typeface="+mn-ea"/>
                <a:cs typeface="+mn-cs"/>
              </a:rPr>
              <a:t>Nagpur | Pune | </a:t>
            </a:r>
            <a:r>
              <a:rPr kumimoji="0" lang="en-IN" sz="1200" b="0" i="0" u="none" strike="noStrike" kern="1200" cap="none" spc="0" normalizeH="0" baseline="0" noProof="0" dirty="0" err="1">
                <a:ln>
                  <a:noFill/>
                </a:ln>
                <a:solidFill>
                  <a:srgbClr val="002060"/>
                </a:solidFill>
                <a:effectLst/>
                <a:uLnTx/>
                <a:uFillTx/>
                <a:latin typeface="+mn-lt"/>
                <a:ea typeface="+mn-ea"/>
                <a:cs typeface="+mn-cs"/>
              </a:rPr>
              <a:t>Jalgaon</a:t>
            </a:r>
            <a:r>
              <a:rPr kumimoji="0" lang="en-IN" sz="1200" b="0" i="0" u="none" strike="noStrike" kern="1200" cap="none" spc="0" normalizeH="0" baseline="0" noProof="0" dirty="0">
                <a:ln>
                  <a:noFill/>
                </a:ln>
                <a:solidFill>
                  <a:srgbClr val="002060"/>
                </a:solidFill>
                <a:effectLst/>
                <a:uLnTx/>
                <a:uFillTx/>
                <a:latin typeface="+mn-lt"/>
                <a:ea typeface="+mn-ea"/>
                <a:cs typeface="+mn-cs"/>
              </a:rPr>
              <a:t> | Amravati | </a:t>
            </a:r>
            <a:r>
              <a:rPr kumimoji="0" lang="en-IN" sz="1200" b="0" i="0" u="none" strike="noStrike" kern="1200" cap="none" spc="0" normalizeH="0" baseline="0" noProof="0" dirty="0" err="1">
                <a:ln>
                  <a:noFill/>
                </a:ln>
                <a:solidFill>
                  <a:srgbClr val="002060"/>
                </a:solidFill>
                <a:effectLst/>
                <a:uLnTx/>
                <a:uFillTx/>
                <a:latin typeface="+mn-lt"/>
                <a:ea typeface="+mn-ea"/>
                <a:cs typeface="+mn-cs"/>
              </a:rPr>
              <a:t>Pandhurna</a:t>
            </a:r>
            <a:r>
              <a:rPr kumimoji="0" lang="en-IN" sz="1200" b="0" i="0" u="none" strike="noStrike" kern="1200" cap="none" spc="0" normalizeH="0" baseline="0" noProof="0" dirty="0">
                <a:ln>
                  <a:noFill/>
                </a:ln>
                <a:solidFill>
                  <a:srgbClr val="002060"/>
                </a:solidFill>
                <a:effectLst/>
                <a:uLnTx/>
                <a:uFillTx/>
                <a:latin typeface="+mn-lt"/>
                <a:ea typeface="+mn-ea"/>
                <a:cs typeface="+mn-cs"/>
              </a:rPr>
              <a:t> | </a:t>
            </a:r>
            <a:r>
              <a:rPr kumimoji="0" lang="en-IN" sz="1200" b="0" i="0" u="none" strike="noStrike" kern="1200" cap="none" spc="0" normalizeH="0" baseline="0" noProof="0" dirty="0" err="1">
                <a:ln>
                  <a:noFill/>
                </a:ln>
                <a:solidFill>
                  <a:srgbClr val="002060"/>
                </a:solidFill>
                <a:effectLst/>
                <a:uLnTx/>
                <a:uFillTx/>
                <a:latin typeface="+mn-lt"/>
                <a:ea typeface="+mn-ea"/>
                <a:cs typeface="+mn-cs"/>
              </a:rPr>
              <a:t>Bhandara</a:t>
            </a:r>
            <a:r>
              <a:rPr kumimoji="0" lang="en-IN" sz="1200" b="0" i="0" u="none" strike="noStrike" kern="1200" cap="none" spc="0" normalizeH="0" baseline="0" noProof="0" dirty="0">
                <a:ln>
                  <a:noFill/>
                </a:ln>
                <a:solidFill>
                  <a:srgbClr val="002060"/>
                </a:solidFill>
                <a:effectLst/>
                <a:uLnTx/>
                <a:uFillTx/>
                <a:latin typeface="+mn-lt"/>
                <a:ea typeface="+mn-ea"/>
                <a:cs typeface="+mn-cs"/>
              </a:rPr>
              <a:t>  </a:t>
            </a: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83464" y="6185073"/>
            <a:ext cx="1102360" cy="40997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1564</Words>
  <Application>Microsoft Office PowerPoint</Application>
  <PresentationFormat>Widescreen</PresentationFormat>
  <Paragraphs>191</Paragraphs>
  <Slides>14</Slides>
  <Notes>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14</vt:i4>
      </vt:variant>
    </vt:vector>
  </HeadingPairs>
  <TitlesOfParts>
    <vt:vector size="26" baseType="lpstr">
      <vt:lpstr>Arial</vt:lpstr>
      <vt:lpstr>Arial Black</vt:lpstr>
      <vt:lpstr>Bodoni MT</vt:lpstr>
      <vt:lpstr>Calibri</vt:lpstr>
      <vt:lpstr>Calibri Light</vt:lpstr>
      <vt:lpstr>Castellar</vt:lpstr>
      <vt:lpstr>Times New Roman</vt:lpstr>
      <vt:lpstr>Wingdings</vt:lpstr>
      <vt:lpstr>Wingdings 2</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tanmay burkute</cp:lastModifiedBy>
  <cp:revision>89</cp:revision>
  <cp:lastPrinted>2018-01-20T12:20:00Z</cp:lastPrinted>
  <dcterms:created xsi:type="dcterms:W3CDTF">2018-01-20T09:03:00Z</dcterms:created>
  <dcterms:modified xsi:type="dcterms:W3CDTF">2024-07-19T16:12:59Z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1033-11.2.0.10258</vt:lpwstr>
  </property>
  <property fmtid="{D5CDD505-2E9C-101B-9397-08002B2CF9AE}" pid="3" name="ICV">
    <vt:lpwstr>E8D44B7623514F2E894E82A1D1A1801D</vt:lpwstr>
  </property>
</Properties>
</file>